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82C4C3-09A7-42CD-9FF4-9BDCC32B13A8}">
  <a:tblStyle styleId="{AB82C4C3-09A7-42CD-9FF4-9BDCC32B13A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88" name="Google Shape;1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00" name="Google Shape;20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205" name="Google Shape;20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p:txBody>
      </p:sp>
      <p:sp>
        <p:nvSpPr>
          <p:cNvPr id="14" name="Google Shape;14;p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 name="Shape 23"/>
        <p:cNvGrpSpPr/>
        <p:nvPr/>
      </p:nvGrpSpPr>
      <p:grpSpPr>
        <a:xfrm>
          <a:off x="0" y="0"/>
          <a:ext cx="0" cy="0"/>
          <a:chOff x="0" y="0"/>
          <a:chExt cx="0" cy="0"/>
        </a:xfrm>
      </p:grpSpPr>
      <p:sp>
        <p:nvSpPr>
          <p:cNvPr id="24" name="Google Shape;24;p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p:nvPr>
            <p:ph idx="2" type="pic"/>
          </p:nvPr>
        </p:nvSpPr>
        <p:spPr>
          <a:xfrm>
            <a:off x="5183188" y="987425"/>
            <a:ext cx="6172200" cy="4873625"/>
          </a:xfrm>
          <a:prstGeom prst="rect">
            <a:avLst/>
          </a:prstGeom>
          <a:noFill/>
          <a:ln>
            <a:noFill/>
          </a:ln>
        </p:spPr>
      </p:sp>
      <p:sp>
        <p:nvSpPr>
          <p:cNvPr id="26" name="Google Shape;26;p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27" name="Google Shape;27;p4"/>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7"/>
          <p:cNvSpPr txBox="1"/>
          <p:nvPr>
            <p:ph type="title"/>
          </p:nvPr>
        </p:nvSpPr>
        <p:spPr>
          <a:xfrm>
            <a:off x="831851" y="1709738"/>
            <a:ext cx="10515600" cy="2852737"/>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 type="body"/>
          </p:nvPr>
        </p:nvSpPr>
        <p:spPr>
          <a:xfrm>
            <a:off x="831851"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888888"/>
              </a:buClr>
              <a:buSzPts val="1800"/>
              <a:buFont typeface="Arial"/>
              <a:buNone/>
              <a:defRPr sz="1800">
                <a:solidFill>
                  <a:srgbClr val="888888"/>
                </a:solidFill>
              </a:defRPr>
            </a:lvl1pPr>
            <a:lvl2pPr indent="-228600" lvl="1" marL="914400" algn="l">
              <a:lnSpc>
                <a:spcPct val="100000"/>
              </a:lnSpc>
              <a:spcBef>
                <a:spcPts val="300"/>
              </a:spcBef>
              <a:spcAft>
                <a:spcPts val="0"/>
              </a:spcAft>
              <a:buClr>
                <a:srgbClr val="888888"/>
              </a:buClr>
              <a:buSzPts val="1500"/>
              <a:buFont typeface="Arial"/>
              <a:buNone/>
              <a:defRPr sz="1500">
                <a:solidFill>
                  <a:srgbClr val="888888"/>
                </a:solidFill>
              </a:defRPr>
            </a:lvl2pPr>
            <a:lvl3pPr indent="-228600" lvl="2" marL="1371600" algn="l">
              <a:lnSpc>
                <a:spcPct val="100000"/>
              </a:lnSpc>
              <a:spcBef>
                <a:spcPts val="270"/>
              </a:spcBef>
              <a:spcAft>
                <a:spcPts val="0"/>
              </a:spcAft>
              <a:buClr>
                <a:srgbClr val="888888"/>
              </a:buClr>
              <a:buSzPts val="1350"/>
              <a:buFont typeface="Arial"/>
              <a:buNone/>
              <a:defRPr sz="1350">
                <a:solidFill>
                  <a:srgbClr val="888888"/>
                </a:solidFill>
              </a:defRPr>
            </a:lvl3pPr>
            <a:lvl4pPr indent="-228600" lvl="3" marL="1828800" algn="l">
              <a:lnSpc>
                <a:spcPct val="100000"/>
              </a:lnSpc>
              <a:spcBef>
                <a:spcPts val="240"/>
              </a:spcBef>
              <a:spcAft>
                <a:spcPts val="0"/>
              </a:spcAft>
              <a:buClr>
                <a:srgbClr val="888888"/>
              </a:buClr>
              <a:buSzPts val="1200"/>
              <a:buFont typeface="Arial"/>
              <a:buNone/>
              <a:defRPr sz="1200">
                <a:solidFill>
                  <a:srgbClr val="888888"/>
                </a:solidFill>
              </a:defRPr>
            </a:lvl4pPr>
            <a:lvl5pPr indent="-228600" lvl="4" marL="2286000" algn="l">
              <a:lnSpc>
                <a:spcPct val="100000"/>
              </a:lnSpc>
              <a:spcBef>
                <a:spcPts val="240"/>
              </a:spcBef>
              <a:spcAft>
                <a:spcPts val="0"/>
              </a:spcAft>
              <a:buClr>
                <a:srgbClr val="888888"/>
              </a:buClr>
              <a:buSzPts val="1200"/>
              <a:buFont typeface="Arial"/>
              <a:buNone/>
              <a:defRPr sz="1200">
                <a:solidFill>
                  <a:srgbClr val="888888"/>
                </a:solidFill>
              </a:defRPr>
            </a:lvl5pPr>
            <a:lvl6pPr indent="-228600" lvl="5" marL="2743200" algn="l">
              <a:lnSpc>
                <a:spcPct val="100000"/>
              </a:lnSpc>
              <a:spcBef>
                <a:spcPts val="240"/>
              </a:spcBef>
              <a:spcAft>
                <a:spcPts val="0"/>
              </a:spcAft>
              <a:buClr>
                <a:srgbClr val="888888"/>
              </a:buClr>
              <a:buSzPts val="1200"/>
              <a:buFont typeface="Arial"/>
              <a:buNone/>
              <a:defRPr sz="1200">
                <a:solidFill>
                  <a:srgbClr val="888888"/>
                </a:solidFill>
              </a:defRPr>
            </a:lvl6pPr>
            <a:lvl7pPr indent="-228600" lvl="6" marL="3200400" algn="l">
              <a:lnSpc>
                <a:spcPct val="100000"/>
              </a:lnSpc>
              <a:spcBef>
                <a:spcPts val="240"/>
              </a:spcBef>
              <a:spcAft>
                <a:spcPts val="0"/>
              </a:spcAft>
              <a:buClr>
                <a:srgbClr val="888888"/>
              </a:buClr>
              <a:buSzPts val="1200"/>
              <a:buFont typeface="Arial"/>
              <a:buNone/>
              <a:defRPr sz="1200">
                <a:solidFill>
                  <a:srgbClr val="888888"/>
                </a:solidFill>
              </a:defRPr>
            </a:lvl7pPr>
            <a:lvl8pPr indent="-228600" lvl="7" marL="3657600" algn="l">
              <a:lnSpc>
                <a:spcPct val="100000"/>
              </a:lnSpc>
              <a:spcBef>
                <a:spcPts val="240"/>
              </a:spcBef>
              <a:spcAft>
                <a:spcPts val="0"/>
              </a:spcAft>
              <a:buClr>
                <a:srgbClr val="888888"/>
              </a:buClr>
              <a:buSzPts val="1200"/>
              <a:buFont typeface="Arial"/>
              <a:buNone/>
              <a:defRPr sz="1200">
                <a:solidFill>
                  <a:srgbClr val="888888"/>
                </a:solidFill>
              </a:defRPr>
            </a:lvl8pPr>
            <a:lvl9pPr indent="-228600" lvl="8" marL="4114800" algn="l">
              <a:lnSpc>
                <a:spcPct val="100000"/>
              </a:lnSpc>
              <a:spcBef>
                <a:spcPts val="240"/>
              </a:spcBef>
              <a:spcAft>
                <a:spcPts val="0"/>
              </a:spcAft>
              <a:buClr>
                <a:srgbClr val="888888"/>
              </a:buClr>
              <a:buSzPts val="1200"/>
              <a:buFont typeface="Arial"/>
              <a:buNone/>
              <a:defRPr sz="1200">
                <a:solidFill>
                  <a:srgbClr val="888888"/>
                </a:solidFill>
              </a:defRPr>
            </a:lvl9pPr>
          </a:lstStyle>
          <a:p/>
        </p:txBody>
      </p:sp>
      <p:sp>
        <p:nvSpPr>
          <p:cNvPr id="42" name="Google Shape;42;p7"/>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609600"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 name="Google Shape;48;p8"/>
          <p:cNvSpPr txBox="1"/>
          <p:nvPr>
            <p:ph idx="2" type="body"/>
          </p:nvPr>
        </p:nvSpPr>
        <p:spPr>
          <a:xfrm>
            <a:off x="6205728"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 name="Google Shape;49;p8"/>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55" name="Google Shape;55;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 name="Google Shape;56;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57" name="Google Shape;57;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 name="Google Shape;58;p9"/>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61950" lvl="1" marL="914400" algn="l">
              <a:lnSpc>
                <a:spcPct val="100000"/>
              </a:lnSpc>
              <a:spcBef>
                <a:spcPts val="420"/>
              </a:spcBef>
              <a:spcAft>
                <a:spcPts val="0"/>
              </a:spcAft>
              <a:buClr>
                <a:schemeClr val="dk1"/>
              </a:buClr>
              <a:buSzPts val="2100"/>
              <a:buFont typeface="Arial"/>
              <a:buChar char="–"/>
              <a:defRPr sz="2100"/>
            </a:lvl2pPr>
            <a:lvl3pPr indent="-342900" lvl="2" marL="1371600" algn="l">
              <a:lnSpc>
                <a:spcPct val="100000"/>
              </a:lnSpc>
              <a:spcBef>
                <a:spcPts val="360"/>
              </a:spcBef>
              <a:spcAft>
                <a:spcPts val="0"/>
              </a:spcAft>
              <a:buClr>
                <a:schemeClr val="dk1"/>
              </a:buClr>
              <a:buSzPts val="1800"/>
              <a:buFont typeface="Arial"/>
              <a:buChar char="•"/>
              <a:defRPr sz="1800"/>
            </a:lvl3pPr>
            <a:lvl4pPr indent="-323850" lvl="3" marL="1828800" algn="l">
              <a:lnSpc>
                <a:spcPct val="100000"/>
              </a:lnSpc>
              <a:spcBef>
                <a:spcPts val="300"/>
              </a:spcBef>
              <a:spcAft>
                <a:spcPts val="0"/>
              </a:spcAft>
              <a:buClr>
                <a:schemeClr val="dk1"/>
              </a:buClr>
              <a:buSzPts val="1500"/>
              <a:buFont typeface="Arial"/>
              <a:buChar char="–"/>
              <a:defRPr sz="1500"/>
            </a:lvl4pPr>
            <a:lvl5pPr indent="-323850" lvl="4" marL="2286000" algn="l">
              <a:lnSpc>
                <a:spcPct val="100000"/>
              </a:lnSpc>
              <a:spcBef>
                <a:spcPts val="300"/>
              </a:spcBef>
              <a:spcAft>
                <a:spcPts val="0"/>
              </a:spcAft>
              <a:buClr>
                <a:schemeClr val="dk1"/>
              </a:buClr>
              <a:buSzPts val="1500"/>
              <a:buFont typeface="Arial"/>
              <a:buChar char="»"/>
              <a:defRPr sz="1500"/>
            </a:lvl5pPr>
            <a:lvl6pPr indent="-323850" lvl="5" marL="2743200" algn="l">
              <a:lnSpc>
                <a:spcPct val="100000"/>
              </a:lnSpc>
              <a:spcBef>
                <a:spcPts val="300"/>
              </a:spcBef>
              <a:spcAft>
                <a:spcPts val="0"/>
              </a:spcAft>
              <a:buClr>
                <a:schemeClr val="dk1"/>
              </a:buClr>
              <a:buSzPts val="1500"/>
              <a:buFont typeface="Arial"/>
              <a:buChar char="»"/>
              <a:defRPr sz="1500"/>
            </a:lvl6pPr>
            <a:lvl7pPr indent="-323850" lvl="6" marL="3200400" algn="l">
              <a:lnSpc>
                <a:spcPct val="100000"/>
              </a:lnSpc>
              <a:spcBef>
                <a:spcPts val="300"/>
              </a:spcBef>
              <a:spcAft>
                <a:spcPts val="0"/>
              </a:spcAft>
              <a:buClr>
                <a:schemeClr val="dk1"/>
              </a:buClr>
              <a:buSzPts val="1500"/>
              <a:buFont typeface="Arial"/>
              <a:buChar char="»"/>
              <a:defRPr sz="1500"/>
            </a:lvl7pPr>
            <a:lvl8pPr indent="-323850" lvl="7" marL="3657600" algn="l">
              <a:lnSpc>
                <a:spcPct val="100000"/>
              </a:lnSpc>
              <a:spcBef>
                <a:spcPts val="300"/>
              </a:spcBef>
              <a:spcAft>
                <a:spcPts val="0"/>
              </a:spcAft>
              <a:buClr>
                <a:schemeClr val="dk1"/>
              </a:buClr>
              <a:buSzPts val="1500"/>
              <a:buFont typeface="Arial"/>
              <a:buChar char="»"/>
              <a:defRPr sz="1500"/>
            </a:lvl8pPr>
            <a:lvl9pPr indent="-323850" lvl="8" marL="4114800" algn="l">
              <a:lnSpc>
                <a:spcPct val="100000"/>
              </a:lnSpc>
              <a:spcBef>
                <a:spcPts val="300"/>
              </a:spcBef>
              <a:spcAft>
                <a:spcPts val="0"/>
              </a:spcAft>
              <a:buClr>
                <a:schemeClr val="dk1"/>
              </a:buClr>
              <a:buSzPts val="1500"/>
              <a:buFont typeface="Arial"/>
              <a:buChar char="»"/>
              <a:defRPr sz="1500"/>
            </a:lvl9pPr>
          </a:lstStyle>
          <a:p/>
        </p:txBody>
      </p:sp>
      <p:sp>
        <p:nvSpPr>
          <p:cNvPr id="64" name="Google Shape;64;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5" name="Google Shape;65;p10"/>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285038" y="1828801"/>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19124" y="-834886"/>
            <a:ext cx="5851525" cy="807057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p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 name="Google Shape;10;p1"/>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colab.research.google.com/drive/1a_qyHrIHFyNJR4Zbhs5jn5rpd_2PV3P9?usp=drive_link" TargetMode="External"/><Relationship Id="rId4" Type="http://schemas.openxmlformats.org/officeDocument/2006/relationships/hyperlink" Target="https://colab.research.google.com/gist/Bhargavpitta/eeefd7674b164239a13fa01650927a37/copy_of_fsl_generative_adversarial_encoder.ipynb"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589161" y="1516914"/>
            <a:ext cx="11257500" cy="16830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Play"/>
              <a:buNone/>
            </a:pPr>
            <a:r>
              <a:rPr lang="en-US">
                <a:latin typeface="Times New Roman"/>
                <a:ea typeface="Times New Roman"/>
                <a:cs typeface="Times New Roman"/>
                <a:sym typeface="Times New Roman"/>
              </a:rPr>
              <a:t>SWGAN FOR IMAGE-TO-IMAGE TRANSLATION</a:t>
            </a:r>
            <a:endParaRPr>
              <a:latin typeface="Times New Roman"/>
              <a:ea typeface="Times New Roman"/>
              <a:cs typeface="Times New Roman"/>
              <a:sym typeface="Times New Roman"/>
            </a:endParaRPr>
          </a:p>
        </p:txBody>
      </p:sp>
      <p:sp>
        <p:nvSpPr>
          <p:cNvPr id="85" name="Google Shape;85;p13"/>
          <p:cNvSpPr txBox="1"/>
          <p:nvPr>
            <p:ph idx="1" type="subTitle"/>
          </p:nvPr>
        </p:nvSpPr>
        <p:spPr>
          <a:xfrm>
            <a:off x="1377315" y="3300095"/>
            <a:ext cx="9144000" cy="1518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Times New Roman"/>
              <a:buNone/>
            </a:pPr>
            <a:r>
              <a:rPr lang="en-US" sz="2200">
                <a:latin typeface="Times New Roman"/>
                <a:ea typeface="Times New Roman"/>
                <a:cs typeface="Times New Roman"/>
                <a:sym typeface="Times New Roman"/>
              </a:rPr>
              <a:t>Subtitle:A Novel Approach for Mode Collapse Mitigation and Improved Image Augmentation</a:t>
            </a:r>
            <a:endParaRPr sz="2200">
              <a:latin typeface="Times New Roman"/>
              <a:ea typeface="Times New Roman"/>
              <a:cs typeface="Times New Roman"/>
              <a:sym typeface="Times New Roman"/>
            </a:endParaRPr>
          </a:p>
        </p:txBody>
      </p:sp>
      <p:sp>
        <p:nvSpPr>
          <p:cNvPr id="86" name="Google Shape;86;p13"/>
          <p:cNvSpPr txBox="1"/>
          <p:nvPr/>
        </p:nvSpPr>
        <p:spPr>
          <a:xfrm>
            <a:off x="7621300" y="4157250"/>
            <a:ext cx="4092000" cy="257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K.K SINGH 		(Guide)</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U.AjaySai</a:t>
            </a: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(N190014)</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M.Satya Vinayak	(N190260)</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V. Lakshmi Priya	(N190914)</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P.Bhargav 			(N190106)</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S.Bhaskar Rao		(N190969)</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ctrTitle"/>
          </p:nvPr>
        </p:nvSpPr>
        <p:spPr>
          <a:xfrm>
            <a:off x="103325" y="80723"/>
            <a:ext cx="9144000" cy="758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    Table Of Contents: </a:t>
            </a:r>
            <a:endParaRPr sz="3600">
              <a:latin typeface="Times New Roman"/>
              <a:ea typeface="Times New Roman"/>
              <a:cs typeface="Times New Roman"/>
              <a:sym typeface="Times New Roman"/>
            </a:endParaRPr>
          </a:p>
        </p:txBody>
      </p:sp>
      <p:sp>
        <p:nvSpPr>
          <p:cNvPr id="92" name="Google Shape;92;p14"/>
          <p:cNvSpPr txBox="1"/>
          <p:nvPr>
            <p:ph idx="1" type="subTitle"/>
          </p:nvPr>
        </p:nvSpPr>
        <p:spPr>
          <a:xfrm>
            <a:off x="1524000" y="1178527"/>
            <a:ext cx="9144000" cy="5359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400"/>
              <a:buChar char="•"/>
            </a:pPr>
            <a:r>
              <a:rPr lang="en-US" sz="2000">
                <a:latin typeface="Times New Roman"/>
                <a:ea typeface="Times New Roman"/>
                <a:cs typeface="Times New Roman"/>
                <a:sym typeface="Times New Roman"/>
              </a:rPr>
              <a:t>Abstract</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Introduction</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Related Works/Existing Works</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Wasserstein Generative Adversarial Network (WGAN)</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Methodology</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Experiments</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Comparative Analysis</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System Hardware</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Results</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Conclusion</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References</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Char char="•"/>
            </a:pPr>
            <a:r>
              <a:rPr lang="en-US" sz="2000">
                <a:latin typeface="Times New Roman"/>
                <a:ea typeface="Times New Roman"/>
                <a:cs typeface="Times New Roman"/>
                <a:sym typeface="Times New Roman"/>
              </a:rPr>
              <a:t>Questions and Answers</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ctrTitle"/>
          </p:nvPr>
        </p:nvSpPr>
        <p:spPr>
          <a:xfrm>
            <a:off x="191575" y="-1175687"/>
            <a:ext cx="9144000" cy="2387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  Abstract</a:t>
            </a:r>
            <a:endParaRPr sz="3600">
              <a:latin typeface="Times New Roman"/>
              <a:ea typeface="Times New Roman"/>
              <a:cs typeface="Times New Roman"/>
              <a:sym typeface="Times New Roman"/>
            </a:endParaRPr>
          </a:p>
        </p:txBody>
      </p:sp>
      <p:sp>
        <p:nvSpPr>
          <p:cNvPr id="98" name="Google Shape;98;p15"/>
          <p:cNvSpPr txBox="1"/>
          <p:nvPr>
            <p:ph idx="1" type="subTitle"/>
          </p:nvPr>
        </p:nvSpPr>
        <p:spPr>
          <a:xfrm>
            <a:off x="868450" y="1470400"/>
            <a:ext cx="9704400" cy="47922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5000"/>
              </a:lnSpc>
              <a:spcBef>
                <a:spcPts val="1200"/>
              </a:spcBef>
              <a:spcAft>
                <a:spcPts val="0"/>
              </a:spcAft>
              <a:buClr>
                <a:schemeClr val="dk1"/>
              </a:buClr>
              <a:buSzPct val="49242"/>
              <a:buFont typeface="Arial"/>
              <a:buNone/>
            </a:pPr>
            <a:r>
              <a:rPr lang="en-US" sz="2233"/>
              <a:t>We present </a:t>
            </a:r>
            <a:r>
              <a:rPr b="1" lang="en-US" sz="2233"/>
              <a:t>SWGAN (Sparse-enhanced Wasserstein GAN)</a:t>
            </a:r>
            <a:r>
              <a:rPr lang="en-US" sz="2233"/>
              <a:t>, a new method for changing images from one type to another (called </a:t>
            </a:r>
            <a:r>
              <a:rPr i="1" lang="en-US" sz="2233"/>
              <a:t>image-to-image translation</a:t>
            </a:r>
            <a:r>
              <a:rPr lang="en-US" sz="2233"/>
              <a:t>). It combines a strong training technique (WGAN-GP)[6] with a special "sparse loss"[5] that helps the model focus better on important image details.</a:t>
            </a:r>
            <a:endParaRPr sz="2233"/>
          </a:p>
          <a:p>
            <a:pPr indent="0" lvl="0" marL="0" rtl="0" algn="l">
              <a:lnSpc>
                <a:spcPct val="115000"/>
              </a:lnSpc>
              <a:spcBef>
                <a:spcPts val="1200"/>
              </a:spcBef>
              <a:spcAft>
                <a:spcPts val="0"/>
              </a:spcAft>
              <a:buClr>
                <a:schemeClr val="dk1"/>
              </a:buClr>
              <a:buSzPct val="49242"/>
              <a:buFont typeface="Arial"/>
              <a:buNone/>
            </a:pPr>
            <a:r>
              <a:rPr lang="en-US" sz="2233"/>
              <a:t>To make it work well even with very few training images, we use a smart way of selecting and mixing images. Our generator creates both the new image and its internal features, while the discriminator (which checks image quality) uses layers that gradually increase in detail.</a:t>
            </a:r>
            <a:endParaRPr sz="2233"/>
          </a:p>
          <a:p>
            <a:pPr indent="0" lvl="0" marL="0" rtl="0" algn="l">
              <a:lnSpc>
                <a:spcPct val="115000"/>
              </a:lnSpc>
              <a:spcBef>
                <a:spcPts val="1200"/>
              </a:spcBef>
              <a:spcAft>
                <a:spcPts val="0"/>
              </a:spcAft>
              <a:buClr>
                <a:schemeClr val="dk1"/>
              </a:buClr>
              <a:buSzPct val="49242"/>
              <a:buFont typeface="Arial"/>
              <a:buNone/>
            </a:pPr>
            <a:r>
              <a:rPr lang="en-US" sz="2233"/>
              <a:t>We tested SWGAN with lots of visual examples and difference maps, showing it can produce very accurate and controllable image results. This makes it a great option for image translation</a:t>
            </a:r>
            <a:endParaRPr sz="2233"/>
          </a:p>
          <a:p>
            <a:pPr indent="0" lvl="0" marL="0" rtl="0" algn="l">
              <a:lnSpc>
                <a:spcPct val="100000"/>
              </a:lnSpc>
              <a:spcBef>
                <a:spcPts val="1200"/>
              </a:spcBef>
              <a:spcAft>
                <a:spcPts val="0"/>
              </a:spcAft>
              <a:buClr>
                <a:schemeClr val="dk1"/>
              </a:buClr>
              <a:buSzPct val="100000"/>
              <a:buFont typeface="Times New Roman"/>
              <a:buNone/>
            </a:pPr>
            <a:br>
              <a:rPr lang="en-US" sz="2000">
                <a:latin typeface="Times New Roman"/>
                <a:ea typeface="Times New Roman"/>
                <a:cs typeface="Times New Roman"/>
                <a:sym typeface="Times New Roman"/>
              </a:rPr>
            </a:br>
            <a:br>
              <a:rPr lang="en-US" sz="2000">
                <a:latin typeface="Times New Roman"/>
                <a:ea typeface="Times New Roman"/>
                <a:cs typeface="Times New Roman"/>
                <a:sym typeface="Times New Roman"/>
              </a:rPr>
            </a:b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9144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3600">
                <a:latin typeface="Times New Roman"/>
                <a:ea typeface="Times New Roman"/>
                <a:cs typeface="Times New Roman"/>
                <a:sym typeface="Times New Roman"/>
              </a:rPr>
              <a:t>Introduction</a:t>
            </a:r>
            <a:endParaRPr sz="3600">
              <a:latin typeface="Times New Roman"/>
              <a:ea typeface="Times New Roman"/>
              <a:cs typeface="Times New Roman"/>
              <a:sym typeface="Times New Roman"/>
            </a:endParaRPr>
          </a:p>
        </p:txBody>
      </p:sp>
      <p:sp>
        <p:nvSpPr>
          <p:cNvPr id="104" name="Google Shape;104;p16"/>
          <p:cNvSpPr txBox="1"/>
          <p:nvPr>
            <p:ph idx="1" type="body"/>
          </p:nvPr>
        </p:nvSpPr>
        <p:spPr>
          <a:xfrm>
            <a:off x="983615" y="1701165"/>
            <a:ext cx="10515600" cy="3108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sz="2000">
                <a:latin typeface="Times New Roman"/>
                <a:ea typeface="Times New Roman"/>
                <a:cs typeface="Times New Roman"/>
                <a:sym typeface="Times New Roman"/>
              </a:rPr>
              <a:t>Introduction to Generative Adversarial Networks (GANs)[2].</a:t>
            </a:r>
            <a:endParaRPr b="1" sz="2000">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2400"/>
              <a:buFont typeface="Times New Roman"/>
              <a:buChar char="•"/>
            </a:pPr>
            <a:r>
              <a:rPr lang="en-US" sz="2000">
                <a:latin typeface="Times New Roman"/>
                <a:ea typeface="Times New Roman"/>
                <a:cs typeface="Times New Roman"/>
                <a:sym typeface="Times New Roman"/>
              </a:rPr>
              <a:t>A Generative Adversarial Network (GAN)[2] is a type of machine learning framework invented by Ian Goodfellow and his colleagues in 2014. It's composed of two neural networks, called the generator and the discriminator, which compete against each other.</a:t>
            </a:r>
            <a:endParaRPr b="1"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sz="2000">
                <a:latin typeface="Times New Roman"/>
                <a:ea typeface="Times New Roman"/>
                <a:cs typeface="Times New Roman"/>
                <a:sym typeface="Times New Roman"/>
              </a:rPr>
              <a:t>Challenges faced by traditional GANs (mode collapse, training instability, evaluation metrics).</a:t>
            </a:r>
            <a:endParaRPr sz="20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Arial"/>
              <a:buNone/>
            </a:pPr>
            <a:r>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0" y="-247662"/>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en-US" sz="2200"/>
              <a:t>Related Works/Existing Works :</a:t>
            </a:r>
            <a:endParaRPr sz="2200"/>
          </a:p>
        </p:txBody>
      </p:sp>
      <p:graphicFrame>
        <p:nvGraphicFramePr>
          <p:cNvPr id="110" name="Google Shape;110;p17"/>
          <p:cNvGraphicFramePr/>
          <p:nvPr/>
        </p:nvGraphicFramePr>
        <p:xfrm>
          <a:off x="571500" y="590550"/>
          <a:ext cx="3000000" cy="3000000"/>
        </p:xfrm>
        <a:graphic>
          <a:graphicData uri="http://schemas.openxmlformats.org/drawingml/2006/table">
            <a:tbl>
              <a:tblPr>
                <a:noFill/>
                <a:tableStyleId>{AB82C4C3-09A7-42CD-9FF4-9BDCC32B13A8}</a:tableStyleId>
              </a:tblPr>
              <a:tblGrid>
                <a:gridCol w="2057400"/>
                <a:gridCol w="2057400"/>
                <a:gridCol w="2057400"/>
                <a:gridCol w="2057400"/>
                <a:gridCol w="2057400"/>
              </a:tblGrid>
              <a:tr h="3830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Title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Author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Publish Year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Key Concepts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a:t>
                      </a:r>
                      <a:endParaRPr sz="1400" u="none" cap="none" strike="noStrike"/>
                    </a:p>
                  </a:txBody>
                  <a:tcPr marT="91425" marB="91425" marR="91425" marL="91425"/>
                </a:tc>
              </a:tr>
              <a:tr h="5893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GAN:Generative Adversarial nets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GoodFellow,Ian, et al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NIPS 2014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The Base line Model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Unguided class</a:t>
                      </a:r>
                      <a:endParaRPr sz="1400" u="none" cap="none" strike="noStrike"/>
                    </a:p>
                  </a:txBody>
                  <a:tcPr marT="91425" marB="91425" marR="91425" marL="91425"/>
                </a:tc>
              </a:tr>
              <a:tr h="795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cGAN:Conditional</a:t>
                      </a:r>
                      <a:endParaRPr sz="1400" u="none" cap="none" strike="noStrike"/>
                    </a:p>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Generative Adversarial nets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Mirza, Mehdi, and Simon Osindero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arXiv 2014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uses Class label to generate class specific samples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Suffers from vanishing gradients and Mode Collapse</a:t>
                      </a:r>
                      <a:endParaRPr sz="1400" u="none" cap="none" strike="noStrike"/>
                    </a:p>
                  </a:txBody>
                  <a:tcPr marT="91425" marB="91425" marR="91425" marL="91425"/>
                </a:tc>
              </a:tr>
              <a:tr h="10018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MetaGAN:An Adversarial approach to few-shot learning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Zhang, Ruxiang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NIPS 2018</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uses support set to generates a sample as fake class for boundary smoothing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Insignificant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Improvement</a:t>
                      </a:r>
                      <a:endParaRPr sz="1400" u="none" cap="none" strike="noStrike"/>
                    </a:p>
                  </a:txBody>
                  <a:tcPr marT="91425" marB="91425" marR="91425" marL="91425"/>
                </a:tc>
              </a:tr>
              <a:tr h="12081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ProtoGAN:Towards few sotkearning for action</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Recogniton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Kumar Dwivedi, Sai</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CVF 2019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Conditioning a conditional generative adversarial network with class prototype vectors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Class prototypes may not be representative for few set novel class</a:t>
                      </a:r>
                      <a:endParaRPr sz="1400" u="none" cap="none" strike="noStrike"/>
                    </a:p>
                  </a:txBody>
                  <a:tcPr marT="91425" marB="91425" marR="91425" marL="91425"/>
                </a:tc>
              </a:tr>
              <a:tr h="11453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ContraGAN:Contrastivelearning for  conditional image geeration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Kang Minguk and Jaesik Park</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NIOS 2020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Uses image embedding as well as the data to class relations by using a Contrastive loss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Some vanishing gradients Still there </a:t>
                      </a:r>
                      <a:endParaRPr sz="1400" u="none" cap="none" strike="noStrike"/>
                    </a:p>
                  </a:txBody>
                  <a:tcPr marT="91425" marB="91425" marR="91425" marL="91425"/>
                </a:tc>
              </a:tr>
              <a:tr h="9782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LFS-GAN:Lifelong Few-Shot image generation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Seo,Juwon,Ji-Su-Kang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ICCV 2023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Task Based Generation, Consider the loss function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Clr>
                <a:schemeClr val="dk1"/>
              </a:buClr>
              <a:buSzPct val="28000"/>
              <a:buFont typeface="Arial"/>
              <a:buNone/>
            </a:pPr>
            <a:r>
              <a:rPr lang="en-US" sz="4000">
                <a:latin typeface="Times New Roman"/>
                <a:ea typeface="Times New Roman"/>
                <a:cs typeface="Times New Roman"/>
                <a:sym typeface="Times New Roman"/>
              </a:rPr>
              <a:t>Wasserstein Generative Adversarial Network (WGAN)</a:t>
            </a:r>
            <a:endParaRPr sz="4000">
              <a:latin typeface="Times New Roman"/>
              <a:ea typeface="Times New Roman"/>
              <a:cs typeface="Times New Roman"/>
              <a:sym typeface="Times New Roman"/>
            </a:endParaRPr>
          </a:p>
          <a:p>
            <a:pPr indent="0" lvl="0" marL="0" rtl="0" algn="l">
              <a:lnSpc>
                <a:spcPct val="90000"/>
              </a:lnSpc>
              <a:spcBef>
                <a:spcPts val="1200"/>
              </a:spcBef>
              <a:spcAft>
                <a:spcPts val="0"/>
              </a:spcAft>
              <a:buClr>
                <a:schemeClr val="dk1"/>
              </a:buClr>
              <a:buSzPct val="100000"/>
              <a:buFont typeface="Play"/>
              <a:buNone/>
            </a:pPr>
            <a:r>
              <a:t/>
            </a:r>
            <a:endParaRPr sz="4000">
              <a:latin typeface="Times New Roman"/>
              <a:ea typeface="Times New Roman"/>
              <a:cs typeface="Times New Roman"/>
              <a:sym typeface="Times New Roman"/>
            </a:endParaRPr>
          </a:p>
        </p:txBody>
      </p:sp>
      <p:sp>
        <p:nvSpPr>
          <p:cNvPr id="116" name="Google Shape;116;p18"/>
          <p:cNvSpPr txBox="1"/>
          <p:nvPr>
            <p:ph idx="1" type="body"/>
          </p:nvPr>
        </p:nvSpPr>
        <p:spPr>
          <a:xfrm>
            <a:off x="838200" y="1514350"/>
            <a:ext cx="10515600" cy="4351200"/>
          </a:xfrm>
          <a:prstGeom prst="rect">
            <a:avLst/>
          </a:prstGeom>
          <a:noFill/>
          <a:ln>
            <a:noFill/>
          </a:ln>
        </p:spPr>
        <p:txBody>
          <a:bodyPr anchorCtr="0" anchor="t" bIns="45700" lIns="91425" spcFirstLastPara="1" rIns="91425" wrap="square" tIns="45700">
            <a:normAutofit fontScale="25000" lnSpcReduction="10000"/>
          </a:bodyPr>
          <a:lstStyle/>
          <a:p>
            <a:pPr indent="0" lvl="0" marL="0" rtl="0" algn="l">
              <a:lnSpc>
                <a:spcPct val="90000"/>
              </a:lnSpc>
              <a:spcBef>
                <a:spcPts val="0"/>
              </a:spcBef>
              <a:spcAft>
                <a:spcPts val="0"/>
              </a:spcAft>
              <a:buClr>
                <a:schemeClr val="dk1"/>
              </a:buClr>
              <a:buSzPct val="100000"/>
              <a:buFont typeface="Arial"/>
              <a:buNone/>
            </a:pPr>
            <a:r>
              <a:t/>
            </a:r>
            <a:endParaRPr b="0" i="0" sz="3200" u="none">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Times New Roman"/>
              <a:buNone/>
            </a:pPr>
            <a:r>
              <a:rPr b="1" lang="en-US" sz="8000">
                <a:latin typeface="Times New Roman"/>
                <a:ea typeface="Times New Roman"/>
                <a:cs typeface="Times New Roman"/>
                <a:sym typeface="Times New Roman"/>
              </a:rPr>
              <a:t>Purpose</a:t>
            </a:r>
            <a:r>
              <a:rPr lang="en-US" sz="8000">
                <a:latin typeface="Times New Roman"/>
                <a:ea typeface="Times New Roman"/>
                <a:cs typeface="Times New Roman"/>
                <a:sym typeface="Times New Roman"/>
              </a:rPr>
              <a:t>: Introduced to address limitations of traditional GANs[2], such as mode collapse and training instability.</a:t>
            </a:r>
            <a:endParaRPr sz="8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100000"/>
              <a:buFont typeface="Times New Roman"/>
              <a:buNone/>
            </a:pPr>
            <a:r>
              <a:rPr b="1" lang="en-US" sz="8000">
                <a:latin typeface="Times New Roman"/>
                <a:ea typeface="Times New Roman"/>
                <a:cs typeface="Times New Roman"/>
                <a:sym typeface="Times New Roman"/>
              </a:rPr>
              <a:t>Key Innovation</a:t>
            </a:r>
            <a:r>
              <a:rPr lang="en-US" sz="8000">
                <a:latin typeface="Times New Roman"/>
                <a:ea typeface="Times New Roman"/>
                <a:cs typeface="Times New Roman"/>
                <a:sym typeface="Times New Roman"/>
              </a:rPr>
              <a:t>: Utilizes the Wasserstein distance to enhance stability and convergence during training.</a:t>
            </a:r>
            <a:endParaRPr sz="8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100000"/>
              <a:buFont typeface="Times New Roman"/>
              <a:buNone/>
            </a:pPr>
            <a:r>
              <a:rPr b="1" lang="en-US" sz="8000">
                <a:latin typeface="Times New Roman"/>
                <a:ea typeface="Times New Roman"/>
                <a:cs typeface="Times New Roman"/>
                <a:sym typeface="Times New Roman"/>
              </a:rPr>
              <a:t>Advancement</a:t>
            </a:r>
            <a:r>
              <a:rPr lang="en-US" sz="8000">
                <a:latin typeface="Times New Roman"/>
                <a:ea typeface="Times New Roman"/>
                <a:cs typeface="Times New Roman"/>
                <a:sym typeface="Times New Roman"/>
              </a:rPr>
              <a:t>: Offers significant improvements in training dynamics and the generation of more realistic synthetic data.</a:t>
            </a:r>
            <a:endParaRPr sz="8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100000"/>
              <a:buFont typeface="Times New Roman"/>
              <a:buNone/>
            </a:pPr>
            <a:r>
              <a:rPr b="1" lang="en-US" sz="8000">
                <a:latin typeface="Times New Roman"/>
                <a:ea typeface="Times New Roman"/>
                <a:cs typeface="Times New Roman"/>
                <a:sym typeface="Times New Roman"/>
              </a:rPr>
              <a:t>Limitation</a:t>
            </a:r>
            <a:r>
              <a:rPr lang="en-US" sz="8000">
                <a:latin typeface="Times New Roman"/>
                <a:ea typeface="Times New Roman"/>
                <a:cs typeface="Times New Roman"/>
                <a:sym typeface="Times New Roman"/>
              </a:rPr>
              <a:t>: Despite advancements, WGAN’s[6] still encounter the mode collapse problem, necessitating further improvements.</a:t>
            </a:r>
            <a:endParaRPr sz="8000">
              <a:latin typeface="Times New Roman"/>
              <a:ea typeface="Times New Roman"/>
              <a:cs typeface="Times New Roman"/>
              <a:sym typeface="Times New Roman"/>
            </a:endParaRPr>
          </a:p>
          <a:p>
            <a:pPr indent="0" lvl="0" marL="228600" rtl="0" algn="l">
              <a:lnSpc>
                <a:spcPct val="90000"/>
              </a:lnSpc>
              <a:spcBef>
                <a:spcPts val="1200"/>
              </a:spcBef>
              <a:spcAft>
                <a:spcPts val="0"/>
              </a:spcAft>
              <a:buClr>
                <a:schemeClr val="dk1"/>
              </a:buClr>
              <a:buSzPct val="100000"/>
              <a:buFont typeface="Arial"/>
              <a:buNone/>
            </a:pPr>
            <a:r>
              <a:t/>
            </a:r>
            <a:endParaRPr sz="80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100000"/>
              <a:buFont typeface="Arial"/>
              <a:buNone/>
            </a:pPr>
            <a:r>
              <a:t/>
            </a:r>
            <a:endParaRPr sz="80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7125" y="1466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3600">
                <a:latin typeface="Times New Roman"/>
                <a:ea typeface="Times New Roman"/>
                <a:cs typeface="Times New Roman"/>
                <a:sym typeface="Times New Roman"/>
              </a:rPr>
              <a:t>Proposed Approach: SWGAN</a:t>
            </a:r>
            <a:endParaRPr sz="3600">
              <a:latin typeface="Times New Roman"/>
              <a:ea typeface="Times New Roman"/>
              <a:cs typeface="Times New Roman"/>
              <a:sym typeface="Times New Roman"/>
            </a:endParaRPr>
          </a:p>
        </p:txBody>
      </p:sp>
      <p:sp>
        <p:nvSpPr>
          <p:cNvPr id="122" name="Google Shape;122;p19"/>
          <p:cNvSpPr txBox="1"/>
          <p:nvPr>
            <p:ph idx="1" type="body"/>
          </p:nvPr>
        </p:nvSpPr>
        <p:spPr>
          <a:xfrm>
            <a:off x="686925" y="1311100"/>
            <a:ext cx="10515600" cy="5049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ct val="100000"/>
              <a:buFont typeface="Times New Roman"/>
              <a:buNone/>
            </a:pPr>
            <a:r>
              <a:rPr b="1" lang="en-US" sz="8000">
                <a:latin typeface="Times New Roman"/>
                <a:ea typeface="Times New Roman"/>
                <a:cs typeface="Times New Roman"/>
                <a:sym typeface="Times New Roman"/>
              </a:rPr>
              <a:t>SWGAN Purpose:</a:t>
            </a:r>
            <a:r>
              <a:rPr lang="en-US" sz="8000">
                <a:latin typeface="Times New Roman"/>
                <a:ea typeface="Times New Roman"/>
                <a:cs typeface="Times New Roman"/>
                <a:sym typeface="Times New Roman"/>
              </a:rPr>
              <a:t> SWGAN (Sparse-Weighted Generative Adversarial Network) was developed to address the persistent challenges faced by traditional GANs[2], specifically in image-to-image translation tasks. These challenges include training instability, mode collapse, and the generation of low-diversity outputs. SWGAN introduces novel techniques to stabilize training and encourage diversity, ensuring high-quality image generation across various tasks.</a:t>
            </a:r>
            <a:endParaRPr sz="8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100000"/>
              <a:buFont typeface="Times New Roman"/>
              <a:buNone/>
            </a:pPr>
            <a:r>
              <a:rPr lang="en-US" sz="8000">
                <a:latin typeface="Times New Roman"/>
                <a:ea typeface="Times New Roman"/>
                <a:cs typeface="Times New Roman"/>
                <a:sym typeface="Times New Roman"/>
              </a:rPr>
              <a:t> </a:t>
            </a:r>
            <a:r>
              <a:rPr b="1" lang="en-US" sz="8000">
                <a:latin typeface="Times New Roman"/>
                <a:ea typeface="Times New Roman"/>
                <a:cs typeface="Times New Roman"/>
                <a:sym typeface="Times New Roman"/>
              </a:rPr>
              <a:t>Innovative Approach:</a:t>
            </a:r>
            <a:r>
              <a:rPr lang="en-US" sz="8000">
                <a:latin typeface="Times New Roman"/>
                <a:ea typeface="Times New Roman"/>
                <a:cs typeface="Times New Roman"/>
                <a:sym typeface="Times New Roman"/>
              </a:rPr>
              <a:t> SWGAN integrates several innovative approaches, including sparse loss, controlled perturbations, and Lipschitz continuity. The use of sparse loss[5] regularizes the model to focus on meaningful features, enabling better disentanglement of representations. Controlled perturbations are applied to introduce variability, making the model more robust and capable of handling diverse image transformations. Lipschitz continuity, enforced via gradient penalties, ensures that the discriminator remains stable during training, preventing mode collapse and enhancing the overall generation process. </a:t>
            </a:r>
            <a:endParaRPr sz="8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100000"/>
              <a:buFont typeface="Times New Roman"/>
              <a:buNone/>
            </a:pPr>
            <a:r>
              <a:rPr b="1" lang="en-US" sz="8000">
                <a:latin typeface="Times New Roman"/>
                <a:ea typeface="Times New Roman"/>
                <a:cs typeface="Times New Roman"/>
                <a:sym typeface="Times New Roman"/>
              </a:rPr>
              <a:t>Key Features:</a:t>
            </a:r>
            <a:r>
              <a:rPr lang="en-US" sz="8000">
                <a:latin typeface="Times New Roman"/>
                <a:ea typeface="Times New Roman"/>
                <a:cs typeface="Times New Roman"/>
                <a:sym typeface="Times New Roman"/>
              </a:rPr>
              <a:t> Smoother Convergence: SWGAN exhibits improved training stability compared to traditional GANs[2]. The incorporation of regularization techniques ensures that the model converges more reliably, producing high-quality and diverse synthetic images without suffering from common GAN pitfalls like mode collapse. </a:t>
            </a:r>
            <a:endParaRPr sz="8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100000"/>
              <a:buFont typeface="Times New Roman"/>
              <a:buNone/>
            </a:pPr>
            <a:r>
              <a:t/>
            </a:r>
            <a:endParaRPr sz="8000">
              <a:latin typeface="Times New Roman"/>
              <a:ea typeface="Times New Roman"/>
              <a:cs typeface="Times New Roman"/>
              <a:sym typeface="Times New Roman"/>
            </a:endParaRPr>
          </a:p>
          <a:p>
            <a:pPr indent="0" lvl="0" marL="0" rtl="0" algn="l">
              <a:lnSpc>
                <a:spcPct val="90000"/>
              </a:lnSpc>
              <a:spcBef>
                <a:spcPts val="1200"/>
              </a:spcBef>
              <a:spcAft>
                <a:spcPts val="0"/>
              </a:spcAft>
              <a:buClr>
                <a:schemeClr val="dk1"/>
              </a:buClr>
              <a:buSzPct val="100000"/>
              <a:buFont typeface="Arial"/>
              <a:buNone/>
            </a:pPr>
            <a:r>
              <a:t/>
            </a:r>
            <a:endParaRPr sz="80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100000"/>
              <a:buFont typeface="Arial"/>
              <a:buNone/>
            </a:pPr>
            <a:r>
              <a:t/>
            </a:r>
            <a:endParaRPr sz="8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idx="1" type="body"/>
          </p:nvPr>
        </p:nvSpPr>
        <p:spPr>
          <a:xfrm>
            <a:off x="609600" y="409575"/>
            <a:ext cx="10972800" cy="5436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8000"/>
              <a:buFont typeface="Times New Roman"/>
              <a:buNone/>
            </a:pPr>
            <a:r>
              <a:rPr b="1" lang="en-US" sz="2200">
                <a:latin typeface="Times New Roman"/>
                <a:ea typeface="Times New Roman"/>
                <a:cs typeface="Times New Roman"/>
                <a:sym typeface="Times New Roman"/>
              </a:rPr>
              <a:t>Performance Metrics:</a:t>
            </a:r>
            <a:r>
              <a:rPr lang="en-US" sz="2200">
                <a:latin typeface="Times New Roman"/>
                <a:ea typeface="Times New Roman"/>
                <a:cs typeface="Times New Roman"/>
                <a:sym typeface="Times New Roman"/>
              </a:rPr>
              <a:t> Reduced Discriminator Loss: The discriminator in SWGAN becomes more effective at distinguishing between real and generated images, as indicated by the reduced discriminator loss. This improvement contributes to the generator’s ability to produce realistic outputs. Increased Generator Loss: A higher generator loss suggests that the generator is effectively challenged by the discriminator, pushing it to generate diverse and more realistic images, thereby mitigating mode collapse. </a:t>
            </a:r>
            <a:endParaRPr sz="22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8000"/>
              <a:buFont typeface="Times New Roman"/>
              <a:buNone/>
            </a:pPr>
            <a:r>
              <a:rPr b="1" lang="en-US" sz="2200">
                <a:latin typeface="Times New Roman"/>
                <a:ea typeface="Times New Roman"/>
                <a:cs typeface="Times New Roman"/>
                <a:sym typeface="Times New Roman"/>
              </a:rPr>
              <a:t>Significance:</a:t>
            </a:r>
            <a:r>
              <a:rPr lang="en-US" sz="2200">
                <a:latin typeface="Times New Roman"/>
                <a:ea typeface="Times New Roman"/>
                <a:cs typeface="Times New Roman"/>
                <a:sym typeface="Times New Roman"/>
              </a:rPr>
              <a:t> SWGAN represents a promising solution to the inherent challenges of traditional GANs[2] in image-to-image translation tasks. By combining sparse loss[5], controlled perturbations, and Lipschitz continuity, SWGAN offers a more stable and reliable framework for high-quality image generation. This approach not only advances the state of generative modeling but also opens up new possibilities for research and applications, including in fields like medical imaging, art generation, and domain adaptation.</a:t>
            </a:r>
            <a:endParaRPr sz="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115570" y="168910"/>
            <a:ext cx="10515600" cy="91694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 Methodology :</a:t>
            </a:r>
            <a:endParaRPr sz="3600">
              <a:latin typeface="Times New Roman"/>
              <a:ea typeface="Times New Roman"/>
              <a:cs typeface="Times New Roman"/>
              <a:sym typeface="Times New Roman"/>
            </a:endParaRPr>
          </a:p>
        </p:txBody>
      </p:sp>
      <p:sp>
        <p:nvSpPr>
          <p:cNvPr id="133" name="Google Shape;133;p21"/>
          <p:cNvSpPr txBox="1"/>
          <p:nvPr>
            <p:ph idx="1" type="body"/>
          </p:nvPr>
        </p:nvSpPr>
        <p:spPr>
          <a:xfrm>
            <a:off x="838200" y="924560"/>
            <a:ext cx="11325225" cy="5715000"/>
          </a:xfrm>
          <a:prstGeom prst="rect">
            <a:avLst/>
          </a:prstGeom>
          <a:noFill/>
          <a:ln>
            <a:noFill/>
          </a:ln>
        </p:spPr>
        <p:txBody>
          <a:bodyPr anchorCtr="0" anchor="t" bIns="45700" lIns="91425" spcFirstLastPara="1" rIns="91425" wrap="square" tIns="45700">
            <a:normAutofit fontScale="70000"/>
          </a:bodyPr>
          <a:lstStyle/>
          <a:p>
            <a:pPr indent="0" lvl="0" marL="0" rtl="0" algn="l">
              <a:lnSpc>
                <a:spcPct val="100000"/>
              </a:lnSpc>
              <a:spcBef>
                <a:spcPts val="1000"/>
              </a:spcBef>
              <a:spcAft>
                <a:spcPts val="0"/>
              </a:spcAft>
              <a:buClr>
                <a:schemeClr val="dk1"/>
              </a:buClr>
              <a:buSzPct val="100000"/>
              <a:buFont typeface="Arial"/>
              <a:buNone/>
            </a:pPr>
            <a:r>
              <a:t/>
            </a:r>
            <a:endParaRPr b="1"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100000"/>
              <a:buFont typeface="Times New Roman"/>
              <a:buNone/>
            </a:pPr>
            <a:r>
              <a:rPr b="1" lang="en-US" sz="2855">
                <a:latin typeface="Times New Roman"/>
                <a:ea typeface="Times New Roman"/>
                <a:cs typeface="Times New Roman"/>
                <a:sym typeface="Times New Roman"/>
              </a:rPr>
              <a:t>Step-1: Initialization</a:t>
            </a:r>
            <a:endParaRPr b="1" sz="2855">
              <a:latin typeface="Times New Roman"/>
              <a:ea typeface="Times New Roman"/>
              <a:cs typeface="Times New Roman"/>
              <a:sym typeface="Times New Roman"/>
            </a:endParaRPr>
          </a:p>
          <a:p>
            <a:pPr indent="0" lvl="0" marL="457200" rtl="0" algn="l">
              <a:lnSpc>
                <a:spcPct val="100000"/>
              </a:lnSpc>
              <a:spcBef>
                <a:spcPts val="1000"/>
              </a:spcBef>
              <a:spcAft>
                <a:spcPts val="0"/>
              </a:spcAft>
              <a:buClr>
                <a:schemeClr val="dk1"/>
              </a:buClr>
              <a:buSzPct val="38000"/>
              <a:buFont typeface="Arial"/>
              <a:buNone/>
            </a:pPr>
            <a:r>
              <a:rPr lang="en-US" sz="2855">
                <a:latin typeface="Times New Roman"/>
                <a:ea typeface="Times New Roman"/>
                <a:cs typeface="Times New Roman"/>
                <a:sym typeface="Times New Roman"/>
              </a:rPr>
              <a:t>Set up the environment and import necessary libraries.</a:t>
            </a:r>
            <a:endParaRPr sz="2855">
              <a:latin typeface="Times New Roman"/>
              <a:ea typeface="Times New Roman"/>
              <a:cs typeface="Times New Roman"/>
              <a:sym typeface="Times New Roman"/>
            </a:endParaRPr>
          </a:p>
          <a:p>
            <a:pPr indent="0" lvl="0" marL="457200" rtl="0" algn="l">
              <a:lnSpc>
                <a:spcPct val="100000"/>
              </a:lnSpc>
              <a:spcBef>
                <a:spcPts val="1000"/>
              </a:spcBef>
              <a:spcAft>
                <a:spcPts val="0"/>
              </a:spcAft>
              <a:buClr>
                <a:schemeClr val="dk1"/>
              </a:buClr>
              <a:buSzPct val="100000"/>
              <a:buFont typeface="Times New Roman"/>
              <a:buNone/>
            </a:pPr>
            <a:r>
              <a:rPr lang="en-US" sz="2855">
                <a:latin typeface="Times New Roman"/>
                <a:ea typeface="Times New Roman"/>
                <a:cs typeface="Times New Roman"/>
                <a:sym typeface="Times New Roman"/>
              </a:rPr>
              <a:t>Load and preprocess mini-ImageNet dataset (train, validation, test).</a:t>
            </a:r>
            <a:endParaRPr sz="2855">
              <a:latin typeface="Times New Roman"/>
              <a:ea typeface="Times New Roman"/>
              <a:cs typeface="Times New Roman"/>
              <a:sym typeface="Times New Roman"/>
            </a:endParaRPr>
          </a:p>
          <a:p>
            <a:pPr indent="0" lvl="0" marL="457200" rtl="0" algn="l">
              <a:lnSpc>
                <a:spcPct val="100000"/>
              </a:lnSpc>
              <a:spcBef>
                <a:spcPts val="1000"/>
              </a:spcBef>
              <a:spcAft>
                <a:spcPts val="0"/>
              </a:spcAft>
              <a:buClr>
                <a:schemeClr val="dk1"/>
              </a:buClr>
              <a:buSzPct val="38000"/>
              <a:buFont typeface="Arial"/>
              <a:buNone/>
            </a:pPr>
            <a:r>
              <a:rPr lang="en-US" sz="2855">
                <a:latin typeface="Times New Roman"/>
                <a:ea typeface="Times New Roman"/>
                <a:cs typeface="Times New Roman"/>
                <a:sym typeface="Times New Roman"/>
              </a:rPr>
              <a:t>Define the Convolutional Neural Network (CNN) architecture for the generator and discriminator models.</a:t>
            </a:r>
            <a:endParaRPr sz="2855">
              <a:latin typeface="Times New Roman"/>
              <a:ea typeface="Times New Roman"/>
              <a:cs typeface="Times New Roman"/>
              <a:sym typeface="Times New Roman"/>
            </a:endParaRPr>
          </a:p>
          <a:p>
            <a:pPr indent="0" lvl="0" marL="457200" rtl="0" algn="l">
              <a:lnSpc>
                <a:spcPct val="100000"/>
              </a:lnSpc>
              <a:spcBef>
                <a:spcPts val="1000"/>
              </a:spcBef>
              <a:spcAft>
                <a:spcPts val="0"/>
              </a:spcAft>
              <a:buClr>
                <a:schemeClr val="dk1"/>
              </a:buClr>
              <a:buSzPct val="38000"/>
              <a:buFont typeface="Arial"/>
              <a:buNone/>
            </a:pPr>
            <a:r>
              <a:rPr lang="en-US" sz="2855">
                <a:latin typeface="Times New Roman"/>
                <a:ea typeface="Times New Roman"/>
                <a:cs typeface="Times New Roman"/>
                <a:sym typeface="Times New Roman"/>
              </a:rPr>
              <a:t>Define custom loss functions and data augmentation functions.</a:t>
            </a:r>
            <a:endParaRPr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61000"/>
              <a:buFont typeface="Arial"/>
              <a:buNone/>
            </a:pPr>
            <a:r>
              <a:t/>
            </a:r>
            <a:endParaRPr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100000"/>
              <a:buFont typeface="Times New Roman"/>
              <a:buNone/>
            </a:pPr>
            <a:r>
              <a:rPr b="1" lang="en-US" sz="2855">
                <a:latin typeface="Times New Roman"/>
                <a:ea typeface="Times New Roman"/>
                <a:cs typeface="Times New Roman"/>
                <a:sym typeface="Times New Roman"/>
              </a:rPr>
              <a:t>Step-2:Data Preprocessing</a:t>
            </a:r>
            <a:endParaRPr b="1"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46000"/>
              <a:buFont typeface="Arial"/>
              <a:buNone/>
            </a:pPr>
            <a:r>
              <a:rPr lang="en-US" sz="2855">
                <a:latin typeface="Times New Roman"/>
                <a:ea typeface="Times New Roman"/>
                <a:cs typeface="Times New Roman"/>
                <a:sym typeface="Times New Roman"/>
              </a:rPr>
              <a:t>        Normalize the input images.</a:t>
            </a:r>
            <a:endParaRPr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36000"/>
              <a:buFont typeface="Arial"/>
              <a:buNone/>
            </a:pPr>
            <a:r>
              <a:rPr lang="en-US" sz="2855">
                <a:latin typeface="Times New Roman"/>
                <a:ea typeface="Times New Roman"/>
                <a:cs typeface="Times New Roman"/>
                <a:sym typeface="Times New Roman"/>
              </a:rPr>
              <a:t>        Apply a mask to the images to introduce noise.</a:t>
            </a:r>
            <a:endParaRPr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36000"/>
              <a:buFont typeface="Arial"/>
              <a:buNone/>
            </a:pPr>
            <a:r>
              <a:rPr lang="en-US" sz="2855">
                <a:latin typeface="Times New Roman"/>
                <a:ea typeface="Times New Roman"/>
                <a:cs typeface="Times New Roman"/>
                <a:sym typeface="Times New Roman"/>
              </a:rPr>
              <a:t>        Create data generators for train, validation, and test datasets using the Data_GeneratorRaviLabel class</a:t>
            </a:r>
            <a:endParaRPr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36000"/>
              <a:buFont typeface="Arial"/>
              <a:buNone/>
            </a:pPr>
            <a:r>
              <a:rPr lang="en-US" sz="2855">
                <a:latin typeface="Times New Roman"/>
                <a:ea typeface="Times New Roman"/>
                <a:cs typeface="Times New Roman"/>
                <a:sym typeface="Times New Roman"/>
              </a:rPr>
              <a:t>       The data generator class is responsible for sampling images and creating batches for training.</a:t>
            </a:r>
            <a:endParaRPr sz="28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100000"/>
              <a:buFont typeface="Arial"/>
              <a:buNone/>
            </a:pPr>
            <a:r>
              <a:t/>
            </a:r>
            <a:endParaRPr sz="2855">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idx="1" type="body"/>
          </p:nvPr>
        </p:nvSpPr>
        <p:spPr>
          <a:xfrm>
            <a:off x="703725" y="554700"/>
            <a:ext cx="10515600" cy="5933400"/>
          </a:xfrm>
          <a:prstGeom prst="rect">
            <a:avLst/>
          </a:prstGeom>
          <a:noFill/>
          <a:ln>
            <a:noFill/>
          </a:ln>
        </p:spPr>
        <p:txBody>
          <a:bodyPr anchorCtr="0" anchor="t" bIns="45700" lIns="91425" spcFirstLastPara="1" rIns="91425" wrap="square" tIns="45700">
            <a:normAutofit fontScale="47500"/>
          </a:bodyPr>
          <a:lstStyle/>
          <a:p>
            <a:pPr indent="0" lvl="0" marL="0" rtl="0" algn="l">
              <a:lnSpc>
                <a:spcPct val="100000"/>
              </a:lnSpc>
              <a:spcBef>
                <a:spcPts val="1000"/>
              </a:spcBef>
              <a:spcAft>
                <a:spcPts val="0"/>
              </a:spcAft>
              <a:buClr>
                <a:schemeClr val="dk1"/>
              </a:buClr>
              <a:buSzPts val="324"/>
              <a:buFont typeface="Arial"/>
              <a:buNone/>
            </a:pPr>
            <a:r>
              <a:rPr b="1" lang="en-US" sz="2776">
                <a:latin typeface="Times New Roman"/>
                <a:ea typeface="Times New Roman"/>
                <a:cs typeface="Times New Roman"/>
                <a:sym typeface="Times New Roman"/>
              </a:rPr>
              <a:t>Step-3:Model Definition</a:t>
            </a:r>
            <a:br>
              <a:rPr lang="en-US" sz="2355">
                <a:latin typeface="Times New Roman"/>
                <a:ea typeface="Times New Roman"/>
                <a:cs typeface="Times New Roman"/>
                <a:sym typeface="Times New Roman"/>
              </a:rPr>
            </a:br>
            <a:endParaRPr sz="23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30000"/>
              <a:buFont typeface="Arial"/>
              <a:buNone/>
            </a:pPr>
            <a:r>
              <a:rPr lang="en-US" sz="2355">
                <a:latin typeface="Times New Roman"/>
                <a:ea typeface="Times New Roman"/>
                <a:cs typeface="Times New Roman"/>
                <a:sym typeface="Times New Roman"/>
              </a:rPr>
              <a:t>   	</a:t>
            </a:r>
            <a:r>
              <a:rPr lang="en-US" sz="2718">
                <a:latin typeface="Times New Roman"/>
                <a:ea typeface="Times New Roman"/>
                <a:cs typeface="Times New Roman"/>
                <a:sym typeface="Times New Roman"/>
              </a:rPr>
              <a:t>Define the generator model (make_generator_model):</a:t>
            </a:r>
            <a:endParaRPr sz="2718">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5987"/>
              <a:buFont typeface="Arial"/>
              <a:buNone/>
            </a:pPr>
            <a:r>
              <a:rPr lang="en-US" sz="2718">
                <a:latin typeface="Times New Roman"/>
                <a:ea typeface="Times New Roman"/>
                <a:cs typeface="Times New Roman"/>
                <a:sym typeface="Times New Roman"/>
              </a:rPr>
              <a:t>     	Sequential CNN layers with normalization and activation functions.</a:t>
            </a:r>
            <a:endParaRPr sz="2718">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5987"/>
              <a:buFont typeface="Arial"/>
              <a:buNone/>
            </a:pPr>
            <a:r>
              <a:rPr lang="en-US" sz="2718">
                <a:latin typeface="Times New Roman"/>
                <a:ea typeface="Times New Roman"/>
                <a:cs typeface="Times New Roman"/>
                <a:sym typeface="Times New Roman"/>
              </a:rPr>
              <a:t>     	Output layer with sigmoid activation to generate images.</a:t>
            </a:r>
            <a:endParaRPr sz="2718">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5987"/>
              <a:buFont typeface="Arial"/>
              <a:buNone/>
            </a:pPr>
            <a:r>
              <a:rPr lang="en-US" sz="2718">
                <a:latin typeface="Times New Roman"/>
                <a:ea typeface="Times New Roman"/>
                <a:cs typeface="Times New Roman"/>
                <a:sym typeface="Times New Roman"/>
              </a:rPr>
              <a:t>    	Define the discriminator model (make_discriminator_model):</a:t>
            </a:r>
            <a:endParaRPr sz="2718">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5987"/>
              <a:buFont typeface="Arial"/>
              <a:buNone/>
            </a:pPr>
            <a:r>
              <a:rPr lang="en-US" sz="2718">
                <a:latin typeface="Times New Roman"/>
                <a:ea typeface="Times New Roman"/>
                <a:cs typeface="Times New Roman"/>
                <a:sym typeface="Times New Roman"/>
              </a:rPr>
              <a:t>     	Sequential CNN layers with normalization and activation functions.</a:t>
            </a:r>
            <a:endParaRPr sz="2718">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5987"/>
              <a:buFont typeface="Arial"/>
              <a:buNone/>
            </a:pPr>
            <a:r>
              <a:rPr lang="en-US" sz="2718">
                <a:latin typeface="Times New Roman"/>
                <a:ea typeface="Times New Roman"/>
                <a:cs typeface="Times New Roman"/>
                <a:sym typeface="Times New Roman"/>
              </a:rPr>
              <a:t>     	Output a decision score for real vs. generated images.</a:t>
            </a:r>
            <a:endParaRPr sz="2718">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39000"/>
              <a:buFont typeface="Arial"/>
              <a:buNone/>
            </a:pPr>
            <a:r>
              <a:t/>
            </a:r>
            <a:endParaRPr sz="235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5448"/>
              <a:buFont typeface="Arial"/>
              <a:buNone/>
            </a:pPr>
            <a:r>
              <a:rPr b="1" lang="en-US" sz="2776">
                <a:latin typeface="Times New Roman"/>
                <a:ea typeface="Times New Roman"/>
                <a:cs typeface="Times New Roman"/>
                <a:sym typeface="Times New Roman"/>
              </a:rPr>
              <a:t>Step-4:Training Functions</a:t>
            </a:r>
            <a:br>
              <a:rPr b="1" lang="en-US" sz="2565">
                <a:latin typeface="Times New Roman"/>
                <a:ea typeface="Times New Roman"/>
                <a:cs typeface="Times New Roman"/>
                <a:sym typeface="Times New Roman"/>
              </a:rPr>
            </a:br>
            <a:br>
              <a:rPr b="1" lang="en-US" sz="2565">
                <a:latin typeface="Times New Roman"/>
                <a:ea typeface="Times New Roman"/>
                <a:cs typeface="Times New Roman"/>
                <a:sym typeface="Times New Roman"/>
              </a:rPr>
            </a:br>
            <a:r>
              <a:rPr b="1" lang="en-US" sz="2675">
                <a:latin typeface="Times New Roman"/>
                <a:ea typeface="Times New Roman"/>
                <a:cs typeface="Times New Roman"/>
                <a:sym typeface="Times New Roman"/>
              </a:rPr>
              <a:t>Define custom components</a:t>
            </a:r>
            <a:r>
              <a:rPr lang="en-US" sz="2675">
                <a:latin typeface="Times New Roman"/>
                <a:ea typeface="Times New Roman"/>
                <a:cs typeface="Times New Roman"/>
                <a:sym typeface="Times New Roman"/>
              </a:rPr>
              <a:t> Define the Wasserstein loss functions (wgan_generator_loss, wgan_discriminator_loss). Define the sparse loss[5] to promote meaningful feature activation. Optionally include mean squared error (MSE) as part of the generator loss for pixel-wise supervision. </a:t>
            </a:r>
            <a:endParaRPr sz="267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6411"/>
              <a:buFont typeface="Arial"/>
              <a:buNone/>
            </a:pPr>
            <a:r>
              <a:rPr b="1" lang="en-US" sz="2675">
                <a:latin typeface="Times New Roman"/>
                <a:ea typeface="Times New Roman"/>
                <a:cs typeface="Times New Roman"/>
                <a:sym typeface="Times New Roman"/>
              </a:rPr>
              <a:t>Define the gradient penalty function</a:t>
            </a:r>
            <a:r>
              <a:rPr lang="en-US" sz="2675">
                <a:latin typeface="Times New Roman"/>
                <a:ea typeface="Times New Roman"/>
                <a:cs typeface="Times New Roman"/>
                <a:sym typeface="Times New Roman"/>
              </a:rPr>
              <a:t> Compute the gradient norm on interpolated images to enforce Lipschitz continuity, essential for stable WGAN training. </a:t>
            </a:r>
            <a:endParaRPr sz="267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6411"/>
              <a:buFont typeface="Arial"/>
              <a:buNone/>
            </a:pPr>
            <a:r>
              <a:rPr b="1" lang="en-US" sz="2675">
                <a:latin typeface="Times New Roman"/>
                <a:ea typeface="Times New Roman"/>
                <a:cs typeface="Times New Roman"/>
                <a:sym typeface="Times New Roman"/>
              </a:rPr>
              <a:t>Discriminator training step (train_discriminator_step)</a:t>
            </a:r>
            <a:r>
              <a:rPr lang="en-US" sz="2675">
                <a:latin typeface="Times New Roman"/>
                <a:ea typeface="Times New Roman"/>
                <a:cs typeface="Times New Roman"/>
                <a:sym typeface="Times New Roman"/>
              </a:rPr>
              <a:t> Compute WGAN discriminator loss with added gradient penalty. Backpropagate gradients and update the discriminator weights. </a:t>
            </a:r>
            <a:endParaRPr sz="267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26411"/>
              <a:buFont typeface="Arial"/>
              <a:buNone/>
            </a:pPr>
            <a:r>
              <a:rPr b="1" lang="en-US" sz="2675">
                <a:latin typeface="Times New Roman"/>
                <a:ea typeface="Times New Roman"/>
                <a:cs typeface="Times New Roman"/>
                <a:sym typeface="Times New Roman"/>
              </a:rPr>
              <a:t>Generator training step (train_generator_step)</a:t>
            </a:r>
            <a:r>
              <a:rPr lang="en-US" sz="2675">
                <a:latin typeface="Times New Roman"/>
                <a:ea typeface="Times New Roman"/>
                <a:cs typeface="Times New Roman"/>
                <a:sym typeface="Times New Roman"/>
              </a:rPr>
              <a:t> Generate fake images and hidden representations. Evaluate the discriminator's output on the generated images. Compute generator loss using: WGAN generator loss (adversarial loss), Sparse loss[5] on activations (for feature disentanglement), MSE loss (for image-to-image translation accuracy). Combine these with appropriate weights. Backpropagate gradients and update generator weights.</a:t>
            </a:r>
            <a:endParaRPr sz="267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34334"/>
              <a:buFont typeface="Arial"/>
              <a:buNone/>
            </a:pPr>
            <a:r>
              <a:t/>
            </a:r>
            <a:endParaRPr sz="2675">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ct val="100000"/>
              <a:buFont typeface="Arial"/>
              <a:buNone/>
            </a:pPr>
            <a:r>
              <a:t/>
            </a:r>
            <a:endParaRPr sz="2355">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575310" y="457200"/>
            <a:ext cx="10232390" cy="95186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3600">
                <a:latin typeface="Times New Roman"/>
                <a:ea typeface="Times New Roman"/>
                <a:cs typeface="Times New Roman"/>
                <a:sym typeface="Times New Roman"/>
              </a:rPr>
              <a:t>Model Architecture Diagram</a:t>
            </a:r>
            <a:endParaRPr sz="3600">
              <a:latin typeface="Times New Roman"/>
              <a:ea typeface="Times New Roman"/>
              <a:cs typeface="Times New Roman"/>
              <a:sym typeface="Times New Roman"/>
            </a:endParaRPr>
          </a:p>
        </p:txBody>
      </p:sp>
      <p:sp>
        <p:nvSpPr>
          <p:cNvPr id="144" name="Google Shape;144;p23"/>
          <p:cNvSpPr txBox="1"/>
          <p:nvPr/>
        </p:nvSpPr>
        <p:spPr>
          <a:xfrm>
            <a:off x="1257775" y="41799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3"/>
          <p:cNvSpPr txBox="1"/>
          <p:nvPr/>
        </p:nvSpPr>
        <p:spPr>
          <a:xfrm>
            <a:off x="8558325" y="190200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Times New Roman"/>
              <a:ea typeface="Times New Roman"/>
              <a:cs typeface="Times New Roman"/>
              <a:sym typeface="Times New Roman"/>
            </a:endParaRPr>
          </a:p>
        </p:txBody>
      </p:sp>
      <p:pic>
        <p:nvPicPr>
          <p:cNvPr id="146" name="Google Shape;146;p23" title="SWGAN.png"/>
          <p:cNvPicPr preferRelativeResize="0"/>
          <p:nvPr/>
        </p:nvPicPr>
        <p:blipFill rotWithShape="1">
          <a:blip r:embed="rId3">
            <a:alphaModFix/>
          </a:blip>
          <a:srcRect b="0" l="0" r="0" t="0"/>
          <a:stretch/>
        </p:blipFill>
        <p:spPr>
          <a:xfrm>
            <a:off x="2774150" y="1529950"/>
            <a:ext cx="7560475" cy="514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idx="1" type="body"/>
          </p:nvPr>
        </p:nvSpPr>
        <p:spPr>
          <a:xfrm>
            <a:off x="551180" y="692785"/>
            <a:ext cx="10515600" cy="48799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2000"/>
              <a:buFont typeface="Times New Roman"/>
              <a:buNone/>
            </a:pPr>
            <a:r>
              <a:rPr b="1" lang="en-US" sz="2000">
                <a:latin typeface="Times New Roman"/>
                <a:ea typeface="Times New Roman"/>
                <a:cs typeface="Times New Roman"/>
                <a:sym typeface="Times New Roman"/>
              </a:rPr>
              <a:t>Step-5: Training Loop:</a:t>
            </a:r>
            <a:endParaRPr b="1"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Initialize optimizers for generator and discriminator.</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Train the models for a specified number of epochs:</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Iterate over batches from the data generator.</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Update generator and discriminator using the training step function.</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Log and print the losses for monitoring.</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Font typeface="Times New Roman"/>
              <a:buNone/>
            </a:pPr>
            <a:br>
              <a:rPr b="1" lang="en-US" sz="2000">
                <a:latin typeface="Times New Roman"/>
                <a:ea typeface="Times New Roman"/>
                <a:cs typeface="Times New Roman"/>
                <a:sym typeface="Times New Roman"/>
              </a:rPr>
            </a:br>
            <a:r>
              <a:rPr b="1" lang="en-US" sz="2000">
                <a:latin typeface="Times New Roman"/>
                <a:ea typeface="Times New Roman"/>
                <a:cs typeface="Times New Roman"/>
                <a:sym typeface="Times New Roman"/>
              </a:rPr>
              <a:t>Step-6: Evaluation:</a:t>
            </a:r>
            <a:br>
              <a:rPr b="1" lang="en-US" sz="2000">
                <a:latin typeface="Times New Roman"/>
                <a:ea typeface="Times New Roman"/>
                <a:cs typeface="Times New Roman"/>
                <a:sym typeface="Times New Roman"/>
              </a:rPr>
            </a:br>
            <a:endParaRPr b="1"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Generate and visualize sample images from the generator.</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   	Save the trained models and plot the training losses.</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203200" y="-1731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1000"/>
              </a:spcBef>
              <a:spcAft>
                <a:spcPts val="0"/>
              </a:spcAft>
              <a:buClr>
                <a:schemeClr val="dk1"/>
              </a:buClr>
              <a:buSzPts val="1100"/>
              <a:buFont typeface="Arial"/>
              <a:buNone/>
            </a:pPr>
            <a:r>
              <a:rPr b="1" lang="en-US" sz="3600">
                <a:latin typeface="Times New Roman"/>
                <a:ea typeface="Times New Roman"/>
                <a:cs typeface="Times New Roman"/>
                <a:sym typeface="Times New Roman"/>
              </a:rPr>
              <a:t>Formula Used :</a:t>
            </a:r>
            <a:endParaRPr sz="3600">
              <a:latin typeface="Times New Roman"/>
              <a:ea typeface="Times New Roman"/>
              <a:cs typeface="Times New Roman"/>
              <a:sym typeface="Times New Roman"/>
            </a:endParaRPr>
          </a:p>
        </p:txBody>
      </p:sp>
      <p:sp>
        <p:nvSpPr>
          <p:cNvPr id="157" name="Google Shape;157;p25"/>
          <p:cNvSpPr txBox="1"/>
          <p:nvPr>
            <p:ph idx="1" type="body"/>
          </p:nvPr>
        </p:nvSpPr>
        <p:spPr>
          <a:xfrm>
            <a:off x="838200" y="733125"/>
            <a:ext cx="10515600" cy="5956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3200"/>
              <a:buFont typeface="Arial"/>
              <a:buNone/>
            </a:pPr>
            <a:r>
              <a:t/>
            </a:r>
            <a:endParaRPr/>
          </a:p>
          <a:p>
            <a:pPr indent="0" lvl="0" marL="0" rtl="0" algn="l">
              <a:lnSpc>
                <a:spcPct val="90000"/>
              </a:lnSpc>
              <a:spcBef>
                <a:spcPts val="1000"/>
              </a:spcBef>
              <a:spcAft>
                <a:spcPts val="0"/>
              </a:spcAft>
              <a:buClr>
                <a:schemeClr val="dk1"/>
              </a:buClr>
              <a:buSzPts val="3200"/>
              <a:buFont typeface="Arial"/>
              <a:buNone/>
            </a:pPr>
            <a:r>
              <a:rPr b="1" lang="en-US" sz="2000">
                <a:latin typeface="Times New Roman"/>
                <a:ea typeface="Times New Roman"/>
                <a:cs typeface="Times New Roman"/>
                <a:sym typeface="Times New Roman"/>
              </a:rPr>
              <a:t>SWGAN : </a:t>
            </a:r>
            <a:endParaRPr b="1"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3200"/>
              <a:buFont typeface="Arial"/>
              <a:buNone/>
            </a:pPr>
            <a:r>
              <a:t/>
            </a:r>
            <a:endParaRPr b="1"/>
          </a:p>
          <a:p>
            <a:pPr indent="0" lvl="0" marL="0" rtl="0" algn="l">
              <a:lnSpc>
                <a:spcPct val="90000"/>
              </a:lnSpc>
              <a:spcBef>
                <a:spcPts val="1000"/>
              </a:spcBef>
              <a:spcAft>
                <a:spcPts val="0"/>
              </a:spcAft>
              <a:buClr>
                <a:schemeClr val="dk1"/>
              </a:buClr>
              <a:buSzPts val="3200"/>
              <a:buFont typeface="Arial"/>
              <a:buNone/>
            </a:pPr>
            <a:br>
              <a:rPr b="1" lang="en-US"/>
            </a:br>
            <a:br>
              <a:rPr b="1" lang="en-US"/>
            </a:br>
            <a:br>
              <a:rPr b="1" lang="en-US"/>
            </a:br>
            <a:br>
              <a:rPr b="1" lang="en-US"/>
            </a:br>
            <a:br>
              <a:rPr lang="en-US"/>
            </a:br>
            <a:br>
              <a:rPr lang="en-US"/>
            </a:br>
            <a:br>
              <a:rPr lang="en-US"/>
            </a:br>
            <a:endParaRPr sz="2200">
              <a:latin typeface="Calibri"/>
              <a:ea typeface="Calibri"/>
              <a:cs typeface="Calibri"/>
              <a:sym typeface="Calibri"/>
            </a:endParaRPr>
          </a:p>
          <a:p>
            <a:pPr indent="0" lvl="0" marL="0" rtl="0" algn="l">
              <a:lnSpc>
                <a:spcPct val="90000"/>
              </a:lnSpc>
              <a:spcBef>
                <a:spcPts val="1000"/>
              </a:spcBef>
              <a:spcAft>
                <a:spcPts val="0"/>
              </a:spcAft>
              <a:buClr>
                <a:schemeClr val="dk1"/>
              </a:buClr>
              <a:buSzPts val="2200"/>
              <a:buFont typeface="Arial"/>
              <a:buNone/>
            </a:pPr>
            <a:r>
              <a:t/>
            </a:r>
            <a:endParaRPr sz="2200">
              <a:latin typeface="Calibri"/>
              <a:ea typeface="Calibri"/>
              <a:cs typeface="Calibri"/>
              <a:sym typeface="Calibri"/>
            </a:endParaRPr>
          </a:p>
        </p:txBody>
      </p:sp>
      <p:pic>
        <p:nvPicPr>
          <p:cNvPr id="158" name="Google Shape;158;p25" title="sparseloss.png"/>
          <p:cNvPicPr preferRelativeResize="0"/>
          <p:nvPr/>
        </p:nvPicPr>
        <p:blipFill rotWithShape="1">
          <a:blip r:embed="rId3">
            <a:alphaModFix/>
          </a:blip>
          <a:srcRect b="0" l="0" r="0" t="0"/>
          <a:stretch/>
        </p:blipFill>
        <p:spPr>
          <a:xfrm>
            <a:off x="1996700" y="2244325"/>
            <a:ext cx="8576049" cy="2262200"/>
          </a:xfrm>
          <a:prstGeom prst="rect">
            <a:avLst/>
          </a:prstGeom>
          <a:noFill/>
          <a:ln>
            <a:noFill/>
          </a:ln>
        </p:spPr>
      </p:pic>
      <p:sp>
        <p:nvSpPr>
          <p:cNvPr id="159" name="Google Shape;159;p25"/>
          <p:cNvSpPr txBox="1"/>
          <p:nvPr/>
        </p:nvSpPr>
        <p:spPr>
          <a:xfrm>
            <a:off x="6421650" y="4744650"/>
            <a:ext cx="102036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highlight>
                  <a:srgbClr val="FFFFFF"/>
                </a:highlight>
                <a:latin typeface="Roboto"/>
                <a:ea typeface="Roboto"/>
                <a:cs typeface="Roboto"/>
                <a:sym typeface="Roboto"/>
              </a:rPr>
              <a:t>Where: </a:t>
            </a:r>
            <a:endParaRPr b="0" i="0" sz="18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highlight>
                  <a:srgbClr val="FFFFFF"/>
                </a:highlight>
                <a:latin typeface="Roboto"/>
                <a:ea typeface="Roboto"/>
                <a:cs typeface="Roboto"/>
                <a:sym typeface="Roboto"/>
              </a:rPr>
              <a:t>ρ is the target activation (the desired mean activation).</a:t>
            </a:r>
            <a:endParaRPr b="0" i="0" sz="18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highlight>
                  <a:srgbClr val="FFFFFF"/>
                </a:highlight>
                <a:latin typeface="Roboto"/>
                <a:ea typeface="Roboto"/>
                <a:cs typeface="Roboto"/>
                <a:sym typeface="Roboto"/>
              </a:rPr>
              <a:t>ρ̂ i  is the mean activation of the learned activations.</a:t>
            </a:r>
            <a:endParaRPr b="0" i="0" sz="18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highlight>
                  <a:srgbClr val="FFFFFF"/>
                </a:highlight>
                <a:latin typeface="Roboto"/>
                <a:ea typeface="Roboto"/>
                <a:cs typeface="Roboto"/>
                <a:sym typeface="Roboto"/>
              </a:rPr>
              <a:t>The sum runs over all activations in the layer.</a:t>
            </a:r>
            <a:endParaRPr b="0" i="0" sz="3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504825" y="239395"/>
            <a:ext cx="10515600" cy="12763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800">
                <a:latin typeface="Arial"/>
                <a:ea typeface="Arial"/>
                <a:cs typeface="Arial"/>
                <a:sym typeface="Arial"/>
              </a:rPr>
              <a:t>Experiments - Datasets Used</a:t>
            </a:r>
            <a:endParaRPr sz="4800">
              <a:latin typeface="Arial"/>
              <a:ea typeface="Arial"/>
              <a:cs typeface="Arial"/>
              <a:sym typeface="Arial"/>
            </a:endParaRPr>
          </a:p>
        </p:txBody>
      </p:sp>
      <p:sp>
        <p:nvSpPr>
          <p:cNvPr id="165" name="Google Shape;165;p26"/>
          <p:cNvSpPr txBox="1"/>
          <p:nvPr>
            <p:ph idx="1" type="body"/>
          </p:nvPr>
        </p:nvSpPr>
        <p:spPr>
          <a:xfrm>
            <a:off x="276860" y="411480"/>
            <a:ext cx="10488930" cy="6153785"/>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Font typeface="Arial"/>
              <a:buNone/>
            </a:pPr>
            <a:r>
              <a:t/>
            </a:r>
            <a:endParaRPr b="0" i="0" sz="3200" u="none">
              <a:solidFill>
                <a:schemeClr val="dk1"/>
              </a:solidFill>
              <a:latin typeface="Arial"/>
              <a:ea typeface="Arial"/>
              <a:cs typeface="Arial"/>
              <a:sym typeface="Arial"/>
            </a:endParaRPr>
          </a:p>
          <a:p>
            <a:pPr indent="0" lvl="0" marL="0" rtl="0" algn="l">
              <a:lnSpc>
                <a:spcPct val="90000"/>
              </a:lnSpc>
              <a:spcBef>
                <a:spcPts val="0"/>
              </a:spcBef>
              <a:spcAft>
                <a:spcPts val="0"/>
              </a:spcAft>
              <a:buClr>
                <a:schemeClr val="dk1"/>
              </a:buClr>
              <a:buSzPts val="2800"/>
              <a:buFont typeface="Arial"/>
              <a:buNone/>
            </a:pPr>
            <a:r>
              <a:t/>
            </a:r>
            <a:endParaRPr b="0" i="0" sz="3200" u="non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Font typeface="Arial"/>
              <a:buNone/>
            </a:pPr>
            <a:r>
              <a:t/>
            </a:r>
            <a:endParaRPr b="1"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2400"/>
              <a:buFont typeface="Arial"/>
              <a:buNone/>
            </a:pPr>
            <a:r>
              <a:t/>
            </a:r>
            <a:endParaRPr b="1" sz="24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2400"/>
              <a:buFont typeface="Arial"/>
              <a:buNone/>
            </a:pPr>
            <a:r>
              <a:t/>
            </a:r>
            <a:endParaRPr b="1" sz="24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2400"/>
              <a:buFont typeface="Times New Roman"/>
              <a:buNone/>
            </a:pPr>
            <a:r>
              <a:rPr b="1" lang="en-US" sz="24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Libraries Used: </a:t>
            </a:r>
            <a:r>
              <a:rPr lang="en-US" sz="2000">
                <a:latin typeface="Times New Roman"/>
                <a:ea typeface="Times New Roman"/>
                <a:cs typeface="Times New Roman"/>
                <a:sym typeface="Times New Roman"/>
              </a:rPr>
              <a:t>Tensorflow, Keras, Numpy, Random, Math, Cv2, Matplotlib</a:t>
            </a:r>
            <a:br>
              <a:rPr lang="en-US" sz="2000">
                <a:latin typeface="Times New Roman"/>
                <a:ea typeface="Times New Roman"/>
                <a:cs typeface="Times New Roman"/>
                <a:sym typeface="Times New Roman"/>
              </a:rPr>
            </a:b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 Mini ImageNet Dataset</a:t>
            </a:r>
            <a:r>
              <a:rPr b="1" lang="en-US" sz="2400">
                <a:latin typeface="Times New Roman"/>
                <a:ea typeface="Times New Roman"/>
                <a:cs typeface="Times New Roman"/>
                <a:sym typeface="Times New Roman"/>
              </a:rPr>
              <a:t>:</a:t>
            </a:r>
            <a:endParaRPr b="1" sz="24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2400"/>
              <a:buFont typeface="Arial"/>
              <a:buNone/>
            </a:pPr>
            <a:br>
              <a:rPr lang="en-US" sz="2400">
                <a:latin typeface="Times New Roman"/>
                <a:ea typeface="Times New Roman"/>
                <a:cs typeface="Times New Roman"/>
                <a:sym typeface="Times New Roman"/>
              </a:rPr>
            </a:br>
            <a:r>
              <a:rPr b="1" lang="en-US" sz="2400">
                <a:latin typeface="Times New Roman"/>
                <a:ea typeface="Times New Roman"/>
                <a:cs typeface="Times New Roman"/>
                <a:sym typeface="Times New Roman"/>
              </a:rPr>
              <a:t>                                          </a:t>
            </a:r>
            <a:endParaRPr b="1" sz="2400">
              <a:latin typeface="Times New Roman"/>
              <a:ea typeface="Times New Roman"/>
              <a:cs typeface="Times New Roman"/>
              <a:sym typeface="Times New Roman"/>
            </a:endParaRPr>
          </a:p>
          <a:p>
            <a:pPr indent="-50800" lvl="0" marL="228600" rtl="0" algn="l">
              <a:lnSpc>
                <a:spcPct val="100000"/>
              </a:lnSpc>
              <a:spcBef>
                <a:spcPts val="1000"/>
              </a:spcBef>
              <a:spcAft>
                <a:spcPts val="0"/>
              </a:spcAft>
              <a:buClr>
                <a:schemeClr val="dk1"/>
              </a:buClr>
              <a:buSzPts val="2800"/>
              <a:buFont typeface="Arial"/>
              <a:buNone/>
            </a:pPr>
            <a:r>
              <a:rPr b="1" lang="en-US" sz="1800"/>
              <a:t>                                           </a:t>
            </a:r>
            <a:endParaRPr b="1" sz="2400">
              <a:latin typeface="Times New Roman"/>
              <a:ea typeface="Times New Roman"/>
              <a:cs typeface="Times New Roman"/>
              <a:sym typeface="Times New Roman"/>
            </a:endParaRPr>
          </a:p>
          <a:p>
            <a:pPr indent="-50800" lvl="0" marL="228600" rtl="0" algn="l">
              <a:lnSpc>
                <a:spcPct val="100000"/>
              </a:lnSpc>
              <a:spcBef>
                <a:spcPts val="1000"/>
              </a:spcBef>
              <a:spcAft>
                <a:spcPts val="0"/>
              </a:spcAft>
              <a:buClr>
                <a:schemeClr val="dk1"/>
              </a:buClr>
              <a:buSzPts val="2800"/>
              <a:buFont typeface="Arial"/>
              <a:buNone/>
            </a:pPr>
            <a:r>
              <a:t/>
            </a:r>
            <a:endParaRPr b="1" sz="1800"/>
          </a:p>
          <a:p>
            <a:pPr indent="-50800" lvl="0" marL="228600" rtl="0" algn="l">
              <a:lnSpc>
                <a:spcPct val="90000"/>
              </a:lnSpc>
              <a:spcBef>
                <a:spcPts val="1000"/>
              </a:spcBef>
              <a:spcAft>
                <a:spcPts val="0"/>
              </a:spcAft>
              <a:buClr>
                <a:schemeClr val="dk1"/>
              </a:buClr>
              <a:buSzPts val="2800"/>
              <a:buFont typeface="Arial"/>
              <a:buNone/>
            </a:pPr>
            <a:r>
              <a:t/>
            </a:r>
            <a:endParaRPr b="1" sz="1800"/>
          </a:p>
        </p:txBody>
      </p:sp>
      <p:pic>
        <p:nvPicPr>
          <p:cNvPr id="166" name="Google Shape;166;p26"/>
          <p:cNvPicPr preferRelativeResize="0"/>
          <p:nvPr/>
        </p:nvPicPr>
        <p:blipFill rotWithShape="1">
          <a:blip r:embed="rId3">
            <a:alphaModFix/>
          </a:blip>
          <a:srcRect b="0" l="0" r="0" t="0"/>
          <a:stretch/>
        </p:blipFill>
        <p:spPr>
          <a:xfrm>
            <a:off x="3710940" y="2420620"/>
            <a:ext cx="4102735" cy="393763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System Hardware:</a:t>
            </a:r>
            <a:endParaRPr sz="3600">
              <a:latin typeface="Times New Roman"/>
              <a:ea typeface="Times New Roman"/>
              <a:cs typeface="Times New Roman"/>
              <a:sym typeface="Times New Roman"/>
            </a:endParaRPr>
          </a:p>
        </p:txBody>
      </p:sp>
      <p:sp>
        <p:nvSpPr>
          <p:cNvPr id="172" name="Google Shape;172;p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Google Colab TP4 GPU</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System RAM Used: 7.5 / 12.7 GB</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GPU RAM Used: 1.6 / 15 GB</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Disk Used: 34.2 / 112.6 GB</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idx="1" type="body"/>
          </p:nvPr>
        </p:nvSpPr>
        <p:spPr>
          <a:xfrm>
            <a:off x="430825" y="985825"/>
            <a:ext cx="10515600" cy="5562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2000"/>
              <a:buFont typeface="Times New Roman"/>
              <a:buNone/>
            </a:pPr>
            <a:r>
              <a:t/>
            </a:r>
            <a:endParaRPr b="1"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Font typeface="Arial"/>
              <a:buNone/>
            </a:pPr>
            <a:r>
              <a:t/>
            </a:r>
            <a:endParaRPr b="1"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Font typeface="Arial"/>
              <a:buNone/>
            </a:pPr>
            <a:r>
              <a:t/>
            </a:r>
            <a:endParaRPr b="1" sz="2000">
              <a:latin typeface="Times New Roman"/>
              <a:ea typeface="Times New Roman"/>
              <a:cs typeface="Times New Roman"/>
              <a:sym typeface="Times New Roman"/>
            </a:endParaRPr>
          </a:p>
        </p:txBody>
      </p:sp>
      <p:sp>
        <p:nvSpPr>
          <p:cNvPr id="178" name="Google Shape;178;p28"/>
          <p:cNvSpPr txBox="1"/>
          <p:nvPr/>
        </p:nvSpPr>
        <p:spPr>
          <a:xfrm>
            <a:off x="154775" y="130975"/>
            <a:ext cx="1124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Result : After 25 Epochs</a:t>
            </a:r>
            <a:endParaRPr b="0" i="0" sz="3200" u="none" cap="none" strike="noStrike">
              <a:solidFill>
                <a:schemeClr val="dk1"/>
              </a:solidFill>
              <a:latin typeface="Arial"/>
              <a:ea typeface="Arial"/>
              <a:cs typeface="Arial"/>
              <a:sym typeface="Arial"/>
            </a:endParaRPr>
          </a:p>
        </p:txBody>
      </p:sp>
      <p:pic>
        <p:nvPicPr>
          <p:cNvPr id="179" name="Google Shape;179;p28" title="output25.png"/>
          <p:cNvPicPr preferRelativeResize="0"/>
          <p:nvPr/>
        </p:nvPicPr>
        <p:blipFill rotWithShape="1">
          <a:blip r:embed="rId3">
            <a:alphaModFix/>
          </a:blip>
          <a:srcRect b="0" l="-2659" r="2659" t="49197"/>
          <a:stretch/>
        </p:blipFill>
        <p:spPr>
          <a:xfrm>
            <a:off x="3323175" y="896800"/>
            <a:ext cx="7493000" cy="5740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177800" y="-12"/>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en-US" sz="3200"/>
              <a:t>After 100 Epochs</a:t>
            </a:r>
            <a:endParaRPr sz="3200"/>
          </a:p>
        </p:txBody>
      </p:sp>
      <p:pic>
        <p:nvPicPr>
          <p:cNvPr id="185" name="Google Shape;185;p29" title="output100.png"/>
          <p:cNvPicPr preferRelativeResize="0"/>
          <p:nvPr/>
        </p:nvPicPr>
        <p:blipFill rotWithShape="1">
          <a:blip r:embed="rId3">
            <a:alphaModFix/>
          </a:blip>
          <a:srcRect b="0" l="0" r="0" t="48480"/>
          <a:stretch/>
        </p:blipFill>
        <p:spPr>
          <a:xfrm>
            <a:off x="3348575" y="986375"/>
            <a:ext cx="7802025" cy="55498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nvSpPr>
        <p:spPr>
          <a:xfrm>
            <a:off x="214325" y="198000"/>
            <a:ext cx="11185800" cy="127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SWGAN Graph :</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Graph After 25 Epoch</a:t>
            </a:r>
            <a:endParaRPr b="0" i="0" sz="2500" u="none" cap="none" strike="noStrike">
              <a:solidFill>
                <a:schemeClr val="dk1"/>
              </a:solidFill>
              <a:latin typeface="Arial"/>
              <a:ea typeface="Arial"/>
              <a:cs typeface="Arial"/>
              <a:sym typeface="Arial"/>
            </a:endParaRPr>
          </a:p>
        </p:txBody>
      </p:sp>
      <p:pic>
        <p:nvPicPr>
          <p:cNvPr id="191" name="Google Shape;191;p30" title="final_graph.png"/>
          <p:cNvPicPr preferRelativeResize="0"/>
          <p:nvPr/>
        </p:nvPicPr>
        <p:blipFill rotWithShape="1">
          <a:blip r:embed="rId3">
            <a:alphaModFix/>
          </a:blip>
          <a:srcRect b="0" l="0" r="0" t="0"/>
          <a:stretch/>
        </p:blipFill>
        <p:spPr>
          <a:xfrm>
            <a:off x="1913900" y="1713300"/>
            <a:ext cx="7905750" cy="4641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en-US" sz="2800"/>
              <a:t>Graph After 100 Epoch </a:t>
            </a:r>
            <a:endParaRPr sz="2800"/>
          </a:p>
        </p:txBody>
      </p:sp>
      <p:pic>
        <p:nvPicPr>
          <p:cNvPr id="197" name="Google Shape;197;p31" title="SWGAN_100.png"/>
          <p:cNvPicPr preferRelativeResize="0"/>
          <p:nvPr/>
        </p:nvPicPr>
        <p:blipFill rotWithShape="1">
          <a:blip r:embed="rId3">
            <a:alphaModFix/>
          </a:blip>
          <a:srcRect b="0" l="0" r="0" t="0"/>
          <a:stretch/>
        </p:blipFill>
        <p:spPr>
          <a:xfrm>
            <a:off x="2152650" y="1417650"/>
            <a:ext cx="7886700" cy="5210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nvSpPr>
        <p:spPr>
          <a:xfrm>
            <a:off x="3501957" y="2496765"/>
            <a:ext cx="5589916" cy="6438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Question and Answers?</a:t>
            </a:r>
            <a:endParaRPr b="0" i="0" sz="3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133350" y="26987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3600">
                <a:latin typeface="Times New Roman"/>
                <a:ea typeface="Times New Roman"/>
                <a:cs typeface="Times New Roman"/>
                <a:sym typeface="Times New Roman"/>
              </a:rPr>
              <a:t>Conclusion </a:t>
            </a:r>
            <a:endParaRPr sz="3600">
              <a:latin typeface="Times New Roman"/>
              <a:ea typeface="Times New Roman"/>
              <a:cs typeface="Times New Roman"/>
              <a:sym typeface="Times New Roman"/>
            </a:endParaRPr>
          </a:p>
        </p:txBody>
      </p:sp>
      <p:sp>
        <p:nvSpPr>
          <p:cNvPr id="208" name="Google Shape;208;p33"/>
          <p:cNvSpPr txBox="1"/>
          <p:nvPr>
            <p:ph idx="1" type="body"/>
          </p:nvPr>
        </p:nvSpPr>
        <p:spPr>
          <a:xfrm>
            <a:off x="609600" y="14827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sz="2000">
                <a:latin typeface="Times New Roman"/>
                <a:ea typeface="Times New Roman"/>
                <a:cs typeface="Times New Roman"/>
                <a:sym typeface="Times New Roman"/>
              </a:rPr>
              <a:t>Advancements over traditional GANs[2] and WGAN’s[6]</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sz="2000">
                <a:latin typeface="Times New Roman"/>
                <a:ea typeface="Times New Roman"/>
                <a:cs typeface="Times New Roman"/>
                <a:sym typeface="Times New Roman"/>
              </a:rPr>
              <a:t> Future potential in generative modeling and data augmentation</a:t>
            </a:r>
            <a:endParaRPr sz="20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Arial"/>
              <a:buNone/>
            </a:pPr>
            <a:r>
              <a:t/>
            </a:r>
            <a:endParaRPr sz="20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114300" y="984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References</a:t>
            </a:r>
            <a:endParaRPr sz="3600">
              <a:latin typeface="Times New Roman"/>
              <a:ea typeface="Times New Roman"/>
              <a:cs typeface="Times New Roman"/>
              <a:sym typeface="Times New Roman"/>
            </a:endParaRPr>
          </a:p>
        </p:txBody>
      </p:sp>
      <p:sp>
        <p:nvSpPr>
          <p:cNvPr id="214" name="Google Shape;214;p34"/>
          <p:cNvSpPr txBox="1"/>
          <p:nvPr>
            <p:ph idx="1" type="body"/>
          </p:nvPr>
        </p:nvSpPr>
        <p:spPr>
          <a:xfrm>
            <a:off x="838200" y="1701201"/>
            <a:ext cx="10515600" cy="45738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1000"/>
              </a:spcBef>
              <a:spcAft>
                <a:spcPts val="0"/>
              </a:spcAft>
              <a:buClr>
                <a:schemeClr val="hlink"/>
              </a:buClr>
              <a:buSzPts val="2000"/>
              <a:buFont typeface="Times New Roman"/>
              <a:buNone/>
            </a:pPr>
            <a:r>
              <a:rPr lang="en-US" sz="2100" u="sng">
                <a:solidFill>
                  <a:schemeClr val="hlink"/>
                </a:solidFill>
                <a:latin typeface="Times New Roman"/>
                <a:ea typeface="Times New Roman"/>
                <a:cs typeface="Times New Roman"/>
                <a:sym typeface="Times New Roman"/>
                <a:hlinkClick r:id="rId3"/>
              </a:rPr>
              <a:t>https://colab.research.google.com/drive/1a_qyHrIHFyNJR4Zbhs5jn5rpd_2PV3P9?usp=drive_link</a:t>
            </a:r>
            <a:endParaRPr sz="3300"/>
          </a:p>
          <a:p>
            <a:pPr indent="0" lvl="0" marL="0" rtl="0" algn="l">
              <a:lnSpc>
                <a:spcPct val="100000"/>
              </a:lnSpc>
              <a:spcBef>
                <a:spcPts val="1000"/>
              </a:spcBef>
              <a:spcAft>
                <a:spcPts val="0"/>
              </a:spcAft>
              <a:buClr>
                <a:schemeClr val="hlink"/>
              </a:buClr>
              <a:buSzPts val="2000"/>
              <a:buFont typeface="Times New Roman"/>
              <a:buNone/>
            </a:pPr>
            <a:r>
              <a:rPr lang="en-US" sz="1300">
                <a:highlight>
                  <a:srgbClr val="FFFFFF"/>
                </a:highlight>
                <a:latin typeface="Roboto"/>
                <a:ea typeface="Roboto"/>
                <a:cs typeface="Roboto"/>
                <a:sym typeface="Roboto"/>
              </a:rPr>
              <a:t>[2]. John, Maria, and S. Santhanalakshmi. "Image augmentation using GAN models in Computer Vision." 2021 2nd International Conference on Smart        Electronics and Communication (ICOSEC). IEEE, 2021.</a:t>
            </a:r>
            <a:endParaRPr sz="13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t/>
            </a:r>
            <a:endParaRPr sz="13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rPr lang="en-US" sz="1300">
                <a:highlight>
                  <a:srgbClr val="FFFFFF"/>
                </a:highlight>
                <a:latin typeface="Roboto"/>
                <a:ea typeface="Roboto"/>
                <a:cs typeface="Roboto"/>
                <a:sym typeface="Roboto"/>
              </a:rPr>
              <a:t>[3]. Cui, Jiequan, Zhuotao Tian, Zhisheng Zhong, Xiaojuan Qi, Bei Yu, and Hanwang Zhang. "Decoupled kullback-leibler divergence loss." Advances in Neural Information Processing Systems 37 (2024): 74461-74486.</a:t>
            </a:r>
            <a:endParaRPr sz="13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t/>
            </a:r>
            <a:endParaRPr sz="13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rPr lang="en-US" sz="1300">
                <a:highlight>
                  <a:srgbClr val="FFFFFF"/>
                </a:highlight>
                <a:latin typeface="Roboto"/>
                <a:ea typeface="Roboto"/>
                <a:cs typeface="Roboto"/>
                <a:sym typeface="Roboto"/>
              </a:rPr>
              <a:t>[4]. Ji, Shuyi, Zizhao Zhang, Shihui Ying, Liejun Wang, Xibin Zhao, and Yue Gao. "Kullback–Leibler divergence metric learning." IEEE transactions on cybernetics 52, no. 4 (2020): 2047-2058.</a:t>
            </a:r>
            <a:endParaRPr sz="13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t/>
            </a:r>
            <a:endParaRPr sz="13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rPr lang="en-US" sz="1300">
                <a:highlight>
                  <a:srgbClr val="FFFFFF"/>
                </a:highlight>
                <a:latin typeface="Roboto"/>
                <a:ea typeface="Roboto"/>
                <a:cs typeface="Roboto"/>
                <a:sym typeface="Roboto"/>
              </a:rPr>
              <a:t>[5]. Cui, Jiequan, Beier Zhu, Qingshan Xu, Zhuotao Tian, Xiaojuan Qi, Bei Yu, Hanwang Zhang, and Richang Hong. "Generalized Kullback-Leibler Divergence Loss." arXiv preprint arXiv:2503.08038 (2025).</a:t>
            </a:r>
            <a:endParaRPr sz="12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t/>
            </a:r>
            <a:endParaRPr sz="1200">
              <a:highlight>
                <a:srgbClr val="FFFFFF"/>
              </a:highlight>
              <a:latin typeface="Roboto"/>
              <a:ea typeface="Roboto"/>
              <a:cs typeface="Roboto"/>
              <a:sym typeface="Roboto"/>
            </a:endParaRPr>
          </a:p>
          <a:p>
            <a:pPr indent="0" lvl="0" marL="0" rtl="0" algn="l">
              <a:lnSpc>
                <a:spcPct val="100000"/>
              </a:lnSpc>
              <a:spcBef>
                <a:spcPts val="1000"/>
              </a:spcBef>
              <a:spcAft>
                <a:spcPts val="0"/>
              </a:spcAft>
              <a:buClr>
                <a:schemeClr val="hlink"/>
              </a:buClr>
              <a:buSzPts val="2000"/>
              <a:buFont typeface="Times New Roman"/>
              <a:buNone/>
            </a:pPr>
            <a:r>
              <a:rPr lang="en-US" sz="1200">
                <a:highlight>
                  <a:srgbClr val="FFFFFF"/>
                </a:highlight>
                <a:latin typeface="Roboto"/>
                <a:ea typeface="Roboto"/>
                <a:cs typeface="Roboto"/>
                <a:sym typeface="Roboto"/>
              </a:rPr>
              <a:t>[6]. Patil, Mallanagouda, Malini M. Patil, and Surbhi Agrawal. "WGAN for Data Augmentation." In GANs for Data Augmentation in Healthcare, pp. 223-241. Springer International Publishing, 2023.</a:t>
            </a:r>
            <a:endParaRPr sz="1200">
              <a:solidFill>
                <a:schemeClr val="hlink"/>
              </a:solidFill>
              <a:highlight>
                <a:srgbClr val="FFFFFF"/>
              </a:highlight>
              <a:uFill>
                <a:noFill/>
              </a:uFill>
              <a:latin typeface="Roboto"/>
              <a:ea typeface="Roboto"/>
              <a:cs typeface="Roboto"/>
              <a:sym typeface="Roboto"/>
              <a:hlinkClick r:id="rId4"/>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idx="1" type="body"/>
          </p:nvPr>
        </p:nvSpPr>
        <p:spPr>
          <a:xfrm>
            <a:off x="1559640" y="2853365"/>
            <a:ext cx="10515600" cy="2211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3200"/>
              <a:buFont typeface="Times New Roman"/>
              <a:buNone/>
            </a:pPr>
            <a:r>
              <a:rPr lang="en-US">
                <a:latin typeface="Times New Roman"/>
                <a:ea typeface="Times New Roman"/>
                <a:cs typeface="Times New Roman"/>
                <a:sym typeface="Times New Roman"/>
              </a:rPr>
              <a:t>                    </a:t>
            </a:r>
            <a:r>
              <a:rPr lang="en-US" sz="4800">
                <a:latin typeface="Times New Roman"/>
                <a:ea typeface="Times New Roman"/>
                <a:cs typeface="Times New Roman"/>
                <a:sym typeface="Times New Roman"/>
              </a:rPr>
              <a:t>       Thank you</a:t>
            </a:r>
            <a:endParaRPr sz="48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4800"/>
              <a:buFont typeface="Arial"/>
              <a:buNone/>
            </a:pPr>
            <a:r>
              <a:t/>
            </a:r>
            <a:endParaRPr sz="48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3200"/>
              <a:buFont typeface="Arial"/>
              <a:buNone/>
            </a:pPr>
            <a:r>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